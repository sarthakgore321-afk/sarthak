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1" r:id="rId1"/>
  </p:sldMasterIdLst>
  <p:notesMasterIdLst>
    <p:notesMasterId r:id="rId33"/>
  </p:notesMasterIdLst>
  <p:sldIdLst>
    <p:sldId id="256" r:id="rId2"/>
    <p:sldId id="257" r:id="rId3"/>
    <p:sldId id="258" r:id="rId4"/>
    <p:sldId id="271" r:id="rId5"/>
    <p:sldId id="260" r:id="rId6"/>
    <p:sldId id="276" r:id="rId7"/>
    <p:sldId id="269" r:id="rId8"/>
    <p:sldId id="270" r:id="rId9"/>
    <p:sldId id="259" r:id="rId10"/>
    <p:sldId id="274" r:id="rId11"/>
    <p:sldId id="261" r:id="rId12"/>
    <p:sldId id="283" r:id="rId13"/>
    <p:sldId id="262" r:id="rId14"/>
    <p:sldId id="263" r:id="rId15"/>
    <p:sldId id="264" r:id="rId16"/>
    <p:sldId id="267" r:id="rId17"/>
    <p:sldId id="268" r:id="rId18"/>
    <p:sldId id="265" r:id="rId19"/>
    <p:sldId id="266" r:id="rId20"/>
    <p:sldId id="278" r:id="rId21"/>
    <p:sldId id="279" r:id="rId22"/>
    <p:sldId id="280" r:id="rId23"/>
    <p:sldId id="281" r:id="rId24"/>
    <p:sldId id="282" r:id="rId25"/>
    <p:sldId id="284" r:id="rId26"/>
    <p:sldId id="285" r:id="rId27"/>
    <p:sldId id="286" r:id="rId28"/>
    <p:sldId id="287" r:id="rId29"/>
    <p:sldId id="288" r:id="rId30"/>
    <p:sldId id="289" r:id="rId31"/>
    <p:sldId id="290" r:id="rId32"/>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855" autoAdjust="0"/>
  </p:normalViewPr>
  <p:slideViewPr>
    <p:cSldViewPr snapToGrid="0">
      <p:cViewPr>
        <p:scale>
          <a:sx n="77" d="100"/>
          <a:sy n="77" d="100"/>
        </p:scale>
        <p:origin x="-378"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89A00BB9-2733-4A77-9388-77B8E7BA8F24}" type="datetimeFigureOut">
              <a:rPr lang="en-US" smtClean="0"/>
              <a:t>2/3/2025</a:t>
            </a:fld>
            <a:endParaRPr lang="en-US"/>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18C68C73-F3A8-48E4-A6AC-584DAEB1B62F}" type="slidenum">
              <a:rPr lang="en-US" smtClean="0"/>
              <a:t>‹#›</a:t>
            </a:fld>
            <a:endParaRPr lang="en-US"/>
          </a:p>
        </p:txBody>
      </p:sp>
    </p:spTree>
    <p:extLst>
      <p:ext uri="{BB962C8B-B14F-4D97-AF65-F5344CB8AC3E}">
        <p14:creationId xmlns:p14="http://schemas.microsoft.com/office/powerpoint/2010/main" val="215011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C68C73-F3A8-48E4-A6AC-584DAEB1B62F}" type="slidenum">
              <a:rPr lang="en-US" smtClean="0"/>
              <a:t>22</a:t>
            </a:fld>
            <a:endParaRPr lang="en-US"/>
          </a:p>
        </p:txBody>
      </p:sp>
    </p:spTree>
    <p:extLst>
      <p:ext uri="{BB962C8B-B14F-4D97-AF65-F5344CB8AC3E}">
        <p14:creationId xmlns:p14="http://schemas.microsoft.com/office/powerpoint/2010/main" val="3308923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F22EF6-9F1A-43A7-AD70-0D8D7956F848}"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1341010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F22EF6-9F1A-43A7-AD70-0D8D7956F848}"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528451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F22EF6-9F1A-43A7-AD70-0D8D7956F848}"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2759412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6F22EF6-9F1A-43A7-AD70-0D8D7956F848}"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20396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6F22EF6-9F1A-43A7-AD70-0D8D7956F848}" type="datetimeFigureOut">
              <a:rPr lang="en-US" smtClean="0"/>
              <a:t>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3043515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F22EF6-9F1A-43A7-AD70-0D8D7956F848}" type="datetimeFigureOut">
              <a:rPr lang="en-US" smtClean="0"/>
              <a:t>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3866046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F22EF6-9F1A-43A7-AD70-0D8D7956F848}" type="datetimeFigureOut">
              <a:rPr lang="en-US" smtClean="0"/>
              <a:t>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1150816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F22EF6-9F1A-43A7-AD70-0D8D7956F848}"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343230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F22EF6-9F1A-43A7-AD70-0D8D7956F848}"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679879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F22EF6-9F1A-43A7-AD70-0D8D7956F848}"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636932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F22EF6-9F1A-43A7-AD70-0D8D7956F848}"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D264A9-4765-48B0-9D09-7AFE59431A53}" type="slidenum">
              <a:rPr lang="en-US" smtClean="0"/>
              <a:t>‹#›</a:t>
            </a:fld>
            <a:endParaRPr lang="en-US"/>
          </a:p>
        </p:txBody>
      </p:sp>
    </p:spTree>
    <p:extLst>
      <p:ext uri="{BB962C8B-B14F-4D97-AF65-F5344CB8AC3E}">
        <p14:creationId xmlns:p14="http://schemas.microsoft.com/office/powerpoint/2010/main" val="2499217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F22EF6-9F1A-43A7-AD70-0D8D7956F848}" type="datetimeFigureOut">
              <a:rPr lang="en-US" smtClean="0"/>
              <a:t>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D264A9-4765-48B0-9D09-7AFE59431A53}" type="slidenum">
              <a:rPr lang="en-US" smtClean="0"/>
              <a:t>‹#›</a:t>
            </a:fld>
            <a:endParaRPr lang="en-US"/>
          </a:p>
        </p:txBody>
      </p:sp>
    </p:spTree>
    <p:extLst>
      <p:ext uri="{BB962C8B-B14F-4D97-AF65-F5344CB8AC3E}">
        <p14:creationId xmlns:p14="http://schemas.microsoft.com/office/powerpoint/2010/main" val="2025797390"/>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toolsqa.com/software-testing/static-test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toolsqa.com/software-testing/dynamic-test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software-testing-basics/" TargetMode="External"/><Relationship Id="rId2" Type="http://schemas.openxmlformats.org/officeDocument/2006/relationships/hyperlink" Target="https://www.geeksforgeeks.org/software-testing-static-testing/"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software-testing-dynamic-testing/"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463521"/>
          </a:xfrm>
        </p:spPr>
        <p:txBody>
          <a:bodyPr/>
          <a:lstStyle/>
          <a:p>
            <a:r>
              <a:rPr lang="en-US" dirty="0" smtClean="0"/>
              <a:t>Software Testing</a:t>
            </a:r>
            <a:endParaRPr lang="en-US" dirty="0"/>
          </a:p>
        </p:txBody>
      </p:sp>
      <p:sp>
        <p:nvSpPr>
          <p:cNvPr id="3" name="Subtitle 2"/>
          <p:cNvSpPr>
            <a:spLocks noGrp="1"/>
          </p:cNvSpPr>
          <p:nvPr>
            <p:ph type="subTitle" idx="1"/>
          </p:nvPr>
        </p:nvSpPr>
        <p:spPr/>
        <p:txBody>
          <a:bodyPr>
            <a:normAutofit/>
          </a:bodyPr>
          <a:lstStyle/>
          <a:p>
            <a:r>
              <a:rPr lang="en-US" sz="4800" dirty="0" smtClean="0"/>
              <a:t>Unit 1 :Basic Of Software Testing</a:t>
            </a:r>
            <a:endParaRPr lang="en-US" sz="4800" dirty="0"/>
          </a:p>
        </p:txBody>
      </p:sp>
    </p:spTree>
    <p:extLst>
      <p:ext uri="{BB962C8B-B14F-4D97-AF65-F5344CB8AC3E}">
        <p14:creationId xmlns:p14="http://schemas.microsoft.com/office/powerpoint/2010/main" val="20027891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SOFTWARE QUALITY Fundamentals</a:t>
            </a:r>
            <a:br>
              <a:rPr lang="en-US" dirty="0" smtClean="0"/>
            </a:b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DEFINITION</a:t>
            </a:r>
            <a:endParaRPr lang="en-US" dirty="0"/>
          </a:p>
          <a:p>
            <a:r>
              <a:rPr lang="en-US" dirty="0"/>
              <a:t>Software quality is the degree of conformance to explicit or implicit requirements and expectations.</a:t>
            </a:r>
          </a:p>
          <a:p>
            <a:pPr marL="0" indent="0">
              <a:buNone/>
            </a:pPr>
            <a:r>
              <a:rPr lang="en-US" u="sng" dirty="0"/>
              <a:t>Explanation:</a:t>
            </a:r>
            <a:endParaRPr lang="en-US" dirty="0"/>
          </a:p>
          <a:p>
            <a:r>
              <a:rPr lang="en-US" i="1" dirty="0"/>
              <a:t>Explicit</a:t>
            </a:r>
            <a:r>
              <a:rPr lang="en-US" dirty="0"/>
              <a:t>: clearly defined and documented</a:t>
            </a:r>
          </a:p>
          <a:p>
            <a:r>
              <a:rPr lang="en-US" i="1" dirty="0"/>
              <a:t>Implicit</a:t>
            </a:r>
            <a:r>
              <a:rPr lang="en-US" dirty="0"/>
              <a:t>: not clearly defined and documented but indirectly suggested</a:t>
            </a:r>
          </a:p>
          <a:p>
            <a:r>
              <a:rPr lang="en-US" i="1" dirty="0"/>
              <a:t>Requirements</a:t>
            </a:r>
            <a:r>
              <a:rPr lang="en-US" dirty="0"/>
              <a:t>: business/product/software requirements</a:t>
            </a:r>
          </a:p>
          <a:p>
            <a:r>
              <a:rPr lang="en-US" i="1" dirty="0"/>
              <a:t>Expectations</a:t>
            </a:r>
            <a:r>
              <a:rPr lang="en-US" dirty="0"/>
              <a:t>: mainly end-user expectations</a:t>
            </a:r>
          </a:p>
          <a:p>
            <a:endParaRPr lang="en-US" dirty="0"/>
          </a:p>
        </p:txBody>
      </p:sp>
    </p:spTree>
    <p:extLst>
      <p:ext uri="{BB962C8B-B14F-4D97-AF65-F5344CB8AC3E}">
        <p14:creationId xmlns:p14="http://schemas.microsoft.com/office/powerpoint/2010/main" val="8485984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5"/>
            <a:ext cx="10515600" cy="660593"/>
          </a:xfrm>
        </p:spPr>
        <p:txBody>
          <a:bodyPr>
            <a:normAutofit/>
          </a:bodyPr>
          <a:lstStyle/>
          <a:p>
            <a:r>
              <a:rPr lang="en-US" sz="4000" dirty="0" smtClean="0"/>
              <a:t>What is Software Testing</a:t>
            </a:r>
            <a:endParaRPr lang="en-US" sz="4000" dirty="0"/>
          </a:p>
        </p:txBody>
      </p:sp>
      <p:sp>
        <p:nvSpPr>
          <p:cNvPr id="7" name="Content Placeholder 6"/>
          <p:cNvSpPr>
            <a:spLocks noGrp="1"/>
          </p:cNvSpPr>
          <p:nvPr>
            <p:ph idx="1"/>
          </p:nvPr>
        </p:nvSpPr>
        <p:spPr>
          <a:xfrm>
            <a:off x="464489" y="1316741"/>
            <a:ext cx="10515600" cy="5251035"/>
          </a:xfrm>
        </p:spPr>
        <p:txBody>
          <a:bodyPr>
            <a:normAutofit lnSpcReduction="10000"/>
          </a:bodyPr>
          <a:lstStyle/>
          <a:p>
            <a:r>
              <a:rPr lang="en-US" dirty="0" smtClean="0"/>
              <a:t>Finding </a:t>
            </a:r>
            <a:r>
              <a:rPr lang="en-US" dirty="0"/>
              <a:t>defects</a:t>
            </a:r>
          </a:p>
          <a:p>
            <a:r>
              <a:rPr lang="en-US" dirty="0" smtClean="0"/>
              <a:t>Trying </a:t>
            </a:r>
            <a:r>
              <a:rPr lang="en-US" dirty="0"/>
              <a:t>to break the system</a:t>
            </a:r>
          </a:p>
          <a:p>
            <a:r>
              <a:rPr lang="en-US" dirty="0" smtClean="0"/>
              <a:t>Finding </a:t>
            </a:r>
            <a:r>
              <a:rPr lang="en-US" dirty="0"/>
              <a:t>and reporting defects</a:t>
            </a:r>
          </a:p>
          <a:p>
            <a:r>
              <a:rPr lang="en-US" dirty="0" smtClean="0"/>
              <a:t>Demonstrating </a:t>
            </a:r>
            <a:r>
              <a:rPr lang="en-US" dirty="0"/>
              <a:t>correct functionality</a:t>
            </a:r>
          </a:p>
          <a:p>
            <a:r>
              <a:rPr lang="en-US" dirty="0" smtClean="0"/>
              <a:t>Demonstrating </a:t>
            </a:r>
            <a:r>
              <a:rPr lang="en-US" dirty="0"/>
              <a:t>incorrect functionality</a:t>
            </a:r>
          </a:p>
          <a:p>
            <a:r>
              <a:rPr lang="en-US" dirty="0" smtClean="0"/>
              <a:t>Demonstrating </a:t>
            </a:r>
            <a:r>
              <a:rPr lang="en-US" dirty="0"/>
              <a:t>robustness, reliability, </a:t>
            </a:r>
            <a:r>
              <a:rPr lang="en-US" dirty="0" err="1" smtClean="0"/>
              <a:t>security,maintainability</a:t>
            </a:r>
            <a:r>
              <a:rPr lang="en-US" dirty="0"/>
              <a:t>, …</a:t>
            </a:r>
          </a:p>
          <a:p>
            <a:r>
              <a:rPr lang="en-US" dirty="0" smtClean="0"/>
              <a:t>Measuring </a:t>
            </a:r>
            <a:r>
              <a:rPr lang="en-US" dirty="0"/>
              <a:t>performance, reliability, …</a:t>
            </a:r>
          </a:p>
          <a:p>
            <a:r>
              <a:rPr lang="en-US" dirty="0" smtClean="0"/>
              <a:t>Evaluating </a:t>
            </a:r>
            <a:r>
              <a:rPr lang="en-US" dirty="0"/>
              <a:t>and measuring quality</a:t>
            </a:r>
          </a:p>
          <a:p>
            <a:r>
              <a:rPr lang="en-US" dirty="0" smtClean="0"/>
              <a:t>Proving </a:t>
            </a:r>
            <a:r>
              <a:rPr lang="en-US" dirty="0"/>
              <a:t>the software correct</a:t>
            </a:r>
          </a:p>
          <a:p>
            <a:r>
              <a:rPr lang="en-US" dirty="0" smtClean="0"/>
              <a:t>Executing </a:t>
            </a:r>
            <a:r>
              <a:rPr lang="en-US" dirty="0"/>
              <a:t>pre-defined test cases</a:t>
            </a:r>
          </a:p>
          <a:p>
            <a:r>
              <a:rPr lang="en-US" dirty="0" smtClean="0"/>
              <a:t>Automatic </a:t>
            </a:r>
            <a:r>
              <a:rPr lang="en-US" dirty="0"/>
              <a:t>error detection</a:t>
            </a:r>
          </a:p>
        </p:txBody>
      </p:sp>
    </p:spTree>
    <p:extLst>
      <p:ext uri="{BB962C8B-B14F-4D97-AF65-F5344CB8AC3E}">
        <p14:creationId xmlns:p14="http://schemas.microsoft.com/office/powerpoint/2010/main" val="40004399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Definition Of Software Testing</a:t>
            </a:r>
            <a:endParaRPr lang="en-US" dirty="0"/>
          </a:p>
        </p:txBody>
      </p:sp>
      <p:sp>
        <p:nvSpPr>
          <p:cNvPr id="5" name="Content Placeholder 4"/>
          <p:cNvSpPr>
            <a:spLocks noGrp="1"/>
          </p:cNvSpPr>
          <p:nvPr>
            <p:ph idx="1"/>
          </p:nvPr>
        </p:nvSpPr>
        <p:spPr/>
        <p:txBody>
          <a:bodyPr>
            <a:normAutofit/>
          </a:bodyPr>
          <a:lstStyle/>
          <a:p>
            <a:r>
              <a:rPr lang="en-US" dirty="0"/>
              <a:t>Testing is the </a:t>
            </a:r>
            <a:r>
              <a:rPr lang="en-US" b="1" dirty="0"/>
              <a:t>execution </a:t>
            </a:r>
            <a:r>
              <a:rPr lang="en-US" dirty="0"/>
              <a:t>of programs </a:t>
            </a:r>
            <a:r>
              <a:rPr lang="en-US" b="1" dirty="0"/>
              <a:t>with </a:t>
            </a:r>
            <a:r>
              <a:rPr lang="en-US" b="1" dirty="0" smtClean="0"/>
              <a:t>the intent </a:t>
            </a:r>
            <a:r>
              <a:rPr lang="en-US" b="1" dirty="0"/>
              <a:t>of finding defects</a:t>
            </a:r>
            <a:r>
              <a:rPr lang="en-US" dirty="0" smtClean="0"/>
              <a:t>.</a:t>
            </a:r>
          </a:p>
          <a:p>
            <a:r>
              <a:rPr lang="en-US" dirty="0"/>
              <a:t>Testing is a the </a:t>
            </a:r>
            <a:r>
              <a:rPr lang="en-US" b="1" dirty="0"/>
              <a:t>process of exercising a </a:t>
            </a:r>
            <a:r>
              <a:rPr lang="en-US" b="1" dirty="0" smtClean="0"/>
              <a:t>software component</a:t>
            </a:r>
            <a:endParaRPr lang="en-US" b="1" dirty="0"/>
          </a:p>
          <a:p>
            <a:pPr>
              <a:buFont typeface="Wingdings" panose="05000000000000000000" pitchFamily="2" charset="2"/>
              <a:buChar char="Ø"/>
            </a:pPr>
            <a:r>
              <a:rPr lang="en-US" dirty="0" smtClean="0"/>
              <a:t>     using </a:t>
            </a:r>
            <a:r>
              <a:rPr lang="en-US" b="1" dirty="0"/>
              <a:t>a selected set of test cases</a:t>
            </a:r>
            <a:r>
              <a:rPr lang="en-US" dirty="0"/>
              <a:t>,</a:t>
            </a:r>
          </a:p>
          <a:p>
            <a:pPr>
              <a:buFont typeface="Wingdings" panose="05000000000000000000" pitchFamily="2" charset="2"/>
              <a:buChar char="Ø"/>
            </a:pPr>
            <a:r>
              <a:rPr lang="en-US" dirty="0" smtClean="0"/>
              <a:t>     with </a:t>
            </a:r>
            <a:r>
              <a:rPr lang="en-US" dirty="0"/>
              <a:t>the intent of </a:t>
            </a:r>
            <a:r>
              <a:rPr lang="en-US" b="1" dirty="0"/>
              <a:t>revealing defects </a:t>
            </a:r>
            <a:r>
              <a:rPr lang="en-US" dirty="0" smtClean="0"/>
              <a:t>and </a:t>
            </a:r>
            <a:r>
              <a:rPr lang="en-US" b="1" dirty="0" smtClean="0"/>
              <a:t>evaluating </a:t>
            </a:r>
            <a:r>
              <a:rPr lang="en-US" b="1" dirty="0"/>
              <a:t>quality</a:t>
            </a:r>
            <a:r>
              <a:rPr lang="en-US" dirty="0" smtClean="0"/>
              <a:t>.</a:t>
            </a:r>
          </a:p>
          <a:p>
            <a:r>
              <a:rPr lang="en-US" dirty="0"/>
              <a:t>Software testing is </a:t>
            </a:r>
            <a:r>
              <a:rPr lang="en-US" b="1" dirty="0"/>
              <a:t>a technical investigation </a:t>
            </a:r>
            <a:r>
              <a:rPr lang="en-US" dirty="0"/>
              <a:t>of </a:t>
            </a:r>
            <a:r>
              <a:rPr lang="en-US" dirty="0" smtClean="0"/>
              <a:t>a product</a:t>
            </a:r>
            <a:r>
              <a:rPr lang="en-US" dirty="0"/>
              <a:t>, i.e.</a:t>
            </a:r>
          </a:p>
          <a:p>
            <a:pPr marL="0" indent="0">
              <a:buNone/>
            </a:pPr>
            <a:r>
              <a:rPr lang="en-US" b="1" dirty="0" smtClean="0"/>
              <a:t>an </a:t>
            </a:r>
            <a:r>
              <a:rPr lang="en-US" b="1" dirty="0"/>
              <a:t>empirical </a:t>
            </a:r>
            <a:r>
              <a:rPr lang="en-US" b="1" dirty="0" smtClean="0"/>
              <a:t>search </a:t>
            </a:r>
            <a:r>
              <a:rPr lang="en-US" dirty="0" smtClean="0"/>
              <a:t>for </a:t>
            </a:r>
            <a:r>
              <a:rPr lang="en-US" b="1" dirty="0"/>
              <a:t>quality-related </a:t>
            </a:r>
            <a:r>
              <a:rPr lang="en-US" b="1" dirty="0" smtClean="0"/>
              <a:t>information </a:t>
            </a:r>
            <a:r>
              <a:rPr lang="en-US" dirty="0" smtClean="0"/>
              <a:t>of </a:t>
            </a:r>
            <a:r>
              <a:rPr lang="en-US" b="1" dirty="0"/>
              <a:t>value </a:t>
            </a:r>
            <a:r>
              <a:rPr lang="en-US" dirty="0"/>
              <a:t>to a </a:t>
            </a:r>
            <a:endParaRPr lang="en-US" dirty="0" smtClean="0"/>
          </a:p>
          <a:p>
            <a:pPr marL="0" indent="0">
              <a:buNone/>
            </a:pPr>
            <a:r>
              <a:rPr lang="en-US" dirty="0" smtClean="0"/>
              <a:t>project’s </a:t>
            </a:r>
            <a:r>
              <a:rPr lang="en-US" dirty="0"/>
              <a:t>stakeholders</a:t>
            </a:r>
          </a:p>
        </p:txBody>
      </p:sp>
    </p:spTree>
    <p:extLst>
      <p:ext uri="{BB962C8B-B14F-4D97-AF65-F5344CB8AC3E}">
        <p14:creationId xmlns:p14="http://schemas.microsoft.com/office/powerpoint/2010/main" val="2722508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4934"/>
          </a:xfrm>
        </p:spPr>
        <p:txBody>
          <a:bodyPr>
            <a:normAutofit fontScale="90000"/>
          </a:bodyPr>
          <a:lstStyle/>
          <a:p>
            <a:pPr algn="ctr"/>
            <a:r>
              <a:rPr lang="en-US" i="1" dirty="0"/>
              <a:t>Bug, Fault &amp; Failure</a:t>
            </a:r>
            <a:endParaRPr lang="en-US" dirty="0"/>
          </a:p>
        </p:txBody>
      </p:sp>
      <p:sp>
        <p:nvSpPr>
          <p:cNvPr id="3" name="Content Placeholder 2"/>
          <p:cNvSpPr>
            <a:spLocks noGrp="1"/>
          </p:cNvSpPr>
          <p:nvPr>
            <p:ph idx="1"/>
          </p:nvPr>
        </p:nvSpPr>
        <p:spPr>
          <a:xfrm>
            <a:off x="392926" y="1197471"/>
            <a:ext cx="10515600" cy="5187425"/>
          </a:xfrm>
        </p:spPr>
        <p:txBody>
          <a:bodyPr>
            <a:normAutofit fontScale="92500" lnSpcReduction="10000"/>
          </a:bodyPr>
          <a:lstStyle/>
          <a:p>
            <a:pPr algn="ctr"/>
            <a:r>
              <a:rPr lang="en-US" dirty="0"/>
              <a:t>A person makes an </a:t>
            </a:r>
            <a:r>
              <a:rPr lang="en-US" b="1" dirty="0"/>
              <a:t>Error</a:t>
            </a:r>
          </a:p>
          <a:p>
            <a:pPr algn="ctr"/>
            <a:r>
              <a:rPr lang="en-US" dirty="0"/>
              <a:t>That creates a </a:t>
            </a:r>
            <a:r>
              <a:rPr lang="en-US" b="1" dirty="0"/>
              <a:t>fault </a:t>
            </a:r>
            <a:r>
              <a:rPr lang="en-US" dirty="0"/>
              <a:t>in software</a:t>
            </a:r>
          </a:p>
          <a:p>
            <a:pPr algn="ctr"/>
            <a:r>
              <a:rPr lang="en-US" dirty="0" smtClean="0"/>
              <a:t>That </a:t>
            </a:r>
            <a:r>
              <a:rPr lang="en-US" dirty="0"/>
              <a:t>can cause a </a:t>
            </a:r>
            <a:r>
              <a:rPr lang="en-US" b="1" dirty="0"/>
              <a:t>failure </a:t>
            </a:r>
            <a:r>
              <a:rPr lang="en-US" dirty="0"/>
              <a:t>in </a:t>
            </a:r>
            <a:r>
              <a:rPr lang="en-US" dirty="0" smtClean="0"/>
              <a:t>operation</a:t>
            </a:r>
          </a:p>
          <a:p>
            <a:r>
              <a:rPr lang="en-US" b="1" dirty="0"/>
              <a:t>Error : An error is a human action that produces the incorrect result that</a:t>
            </a:r>
          </a:p>
          <a:p>
            <a:pPr marL="0" indent="0">
              <a:buNone/>
            </a:pPr>
            <a:r>
              <a:rPr lang="en-US" b="1" dirty="0" smtClean="0"/>
              <a:t>   results </a:t>
            </a:r>
            <a:r>
              <a:rPr lang="en-US" b="1" dirty="0"/>
              <a:t>in a fault.</a:t>
            </a:r>
          </a:p>
          <a:p>
            <a:r>
              <a:rPr lang="en-US" b="1" dirty="0"/>
              <a:t>Bug : The presence of error at the time of execution of the software.</a:t>
            </a:r>
          </a:p>
          <a:p>
            <a:r>
              <a:rPr lang="en-US" b="1" dirty="0"/>
              <a:t>Fault : State of software caused by an error.</a:t>
            </a:r>
          </a:p>
          <a:p>
            <a:r>
              <a:rPr lang="en-US" b="1" dirty="0"/>
              <a:t>Failure : Deviation of the software from its expected result. It is an event</a:t>
            </a:r>
            <a:r>
              <a:rPr lang="en-US" b="1" dirty="0" smtClean="0"/>
              <a:t>.</a:t>
            </a:r>
          </a:p>
          <a:p>
            <a:r>
              <a:rPr lang="en-US" b="1" dirty="0" smtClean="0"/>
              <a:t>Defect :</a:t>
            </a:r>
            <a:r>
              <a:rPr lang="en-US" dirty="0"/>
              <a:t>A </a:t>
            </a:r>
            <a:r>
              <a:rPr lang="en-US" b="1" dirty="0"/>
              <a:t>defect is an error or a bug</a:t>
            </a:r>
            <a:r>
              <a:rPr lang="en-US" dirty="0"/>
              <a:t>, in the application which is created. A programmer while designing and building the software can make mistakes or error. These mistakes or errors mean that there are flaws in the software. These are called defects.</a:t>
            </a:r>
          </a:p>
        </p:txBody>
      </p:sp>
    </p:spTree>
    <p:extLst>
      <p:ext uri="{BB962C8B-B14F-4D97-AF65-F5344CB8AC3E}">
        <p14:creationId xmlns:p14="http://schemas.microsoft.com/office/powerpoint/2010/main" val="29767811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5431" y="419526"/>
            <a:ext cx="9962148" cy="6359177"/>
          </a:xfrm>
          <a:prstGeom prst="rect">
            <a:avLst/>
          </a:prstGeom>
        </p:spPr>
        <p:txBody>
          <a:bodyPr wrap="square">
            <a:spAutoFit/>
          </a:bodyPr>
          <a:lstStyle/>
          <a:p>
            <a:pPr>
              <a:lnSpc>
                <a:spcPct val="115000"/>
              </a:lnSpc>
              <a:spcAft>
                <a:spcPts val="1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Nature of errors</a:t>
            </a:r>
          </a:p>
          <a:p>
            <a:pPr>
              <a:lnSpc>
                <a:spcPts val="1200"/>
              </a:lnSpc>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Categories of Software Errors</a:t>
            </a:r>
            <a:r>
              <a:rPr lang="en-US"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t>
            </a:r>
          </a:p>
          <a:p>
            <a:pPr marL="285750" marR="0" lvl="0" indent="-285750">
              <a:lnSpc>
                <a:spcPct val="150000"/>
              </a:lnSpc>
              <a:spcBef>
                <a:spcPts val="0"/>
              </a:spcBef>
              <a:spcAft>
                <a:spcPts val="300"/>
              </a:spcAft>
              <a:buSzPts val="1000"/>
              <a:buFont typeface="Arial" panose="020B0604020202020204" pitchFamily="34" charset="0"/>
              <a:buChar char="•"/>
              <a:tabLst>
                <a:tab pos="457200" algn="l"/>
              </a:tabLst>
            </a:pPr>
            <a:r>
              <a:rPr lang="en-US"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User </a:t>
            </a: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interface errors such as output errors or incorrect user messages.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Function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Hardware defects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Incorrect program version</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Requirements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Design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Documentation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Architecture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Module interface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Performance 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300"/>
              </a:spcAft>
              <a:buSzPts val="1000"/>
              <a:buFont typeface="Symbol" panose="05050102010706020507" pitchFamily="18" charset="2"/>
              <a:buChar char=""/>
              <a:tabLst>
                <a:tab pos="457200" algn="l"/>
              </a:tabLst>
            </a:pPr>
            <a:r>
              <a:rPr lang="en-US"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Logic </a:t>
            </a:r>
            <a:r>
              <a:rPr lang="en-US"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errors such as calculation </a:t>
            </a:r>
            <a:r>
              <a:rPr lang="en-US"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errors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018296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610" y="509453"/>
            <a:ext cx="10058400" cy="4955203"/>
          </a:xfrm>
          <a:prstGeom prst="rect">
            <a:avLst/>
          </a:prstGeom>
        </p:spPr>
        <p:txBody>
          <a:bodyPr wrap="square">
            <a:spAutoFit/>
          </a:bodyPr>
          <a:lstStyle/>
          <a:p>
            <a:r>
              <a:rPr lang="en-US" sz="2000" b="1" i="0" u="none" strike="noStrike" baseline="0" dirty="0" smtClean="0">
                <a:solidFill>
                  <a:srgbClr val="444477"/>
                </a:solidFill>
                <a:latin typeface="Verdana" panose="020B0604030504040204" pitchFamily="34" charset="0"/>
              </a:rPr>
              <a:t>Why do defects occur in software?</a:t>
            </a:r>
          </a:p>
          <a:p>
            <a:endParaRPr lang="en-US" sz="2000" b="1" i="0" u="none" strike="noStrike" baseline="0" dirty="0" smtClean="0">
              <a:solidFill>
                <a:srgbClr val="444477"/>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Software is written by human beings</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Who know something, but not everything</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Who have skills, but aren’t perfect</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Who don’t usually use rigorous methods</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Who do make mistakes (errors)</a:t>
            </a:r>
          </a:p>
          <a:p>
            <a:endParaRPr lang="en-US" b="0" i="0" u="none" strike="noStrike" baseline="0" dirty="0" smtClean="0">
              <a:solidFill>
                <a:srgbClr val="000000"/>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Under increasing pressure to deliver to strict deadlines</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No time to check, assumptions may be wrong</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Systems may be incomplete</a:t>
            </a:r>
          </a:p>
          <a:p>
            <a:endParaRPr lang="en-US" b="0" i="0" u="none" strike="noStrike" baseline="0" dirty="0" smtClean="0">
              <a:solidFill>
                <a:srgbClr val="000000"/>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Software is complex, abstract and invisible</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Hard to understand</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Hard to see if it is complete or working correctly</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No one person can fully understand large systems</a:t>
            </a:r>
          </a:p>
          <a:p>
            <a:r>
              <a:rPr lang="en-US" sz="1400" b="0" i="0" u="none" strike="noStrike" baseline="0" dirty="0" smtClean="0">
                <a:solidFill>
                  <a:srgbClr val="FF0000"/>
                </a:solidFill>
                <a:latin typeface="Wingdings-Regular"/>
              </a:rPr>
              <a:t>􀂾     </a:t>
            </a:r>
            <a:r>
              <a:rPr lang="en-US" b="0" i="0" u="none" strike="noStrike" baseline="0" dirty="0" smtClean="0">
                <a:solidFill>
                  <a:srgbClr val="000000"/>
                </a:solidFill>
                <a:latin typeface="Verdana" panose="020B0604030504040204" pitchFamily="34" charset="0"/>
              </a:rPr>
              <a:t>Numerous external interfaces and dependencies</a:t>
            </a:r>
            <a:endParaRPr lang="en-US" dirty="0"/>
          </a:p>
        </p:txBody>
      </p:sp>
    </p:spTree>
    <p:extLst>
      <p:ext uri="{BB962C8B-B14F-4D97-AF65-F5344CB8AC3E}">
        <p14:creationId xmlns:p14="http://schemas.microsoft.com/office/powerpoint/2010/main" val="41636561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7179" y="489734"/>
            <a:ext cx="9668786" cy="5878532"/>
          </a:xfrm>
          <a:prstGeom prst="rect">
            <a:avLst/>
          </a:prstGeom>
        </p:spPr>
        <p:txBody>
          <a:bodyPr wrap="square">
            <a:spAutoFit/>
          </a:bodyPr>
          <a:lstStyle/>
          <a:p>
            <a:r>
              <a:rPr lang="en-US" sz="2400" b="1" i="0" u="none" strike="noStrike" baseline="0" dirty="0" smtClean="0">
                <a:solidFill>
                  <a:srgbClr val="444477"/>
                </a:solidFill>
                <a:latin typeface="Verdana" panose="020B0604030504040204" pitchFamily="34" charset="0"/>
              </a:rPr>
              <a:t>Sources of defects</a:t>
            </a:r>
          </a:p>
          <a:p>
            <a:r>
              <a:rPr lang="en-US" sz="2000" b="0" i="0" u="none" strike="noStrike" baseline="0" dirty="0" smtClean="0">
                <a:solidFill>
                  <a:srgbClr val="FF0000"/>
                </a:solidFill>
                <a:latin typeface="Verdana" panose="020B0604030504040204" pitchFamily="34" charset="0"/>
              </a:rPr>
              <a:t>Education</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Developers </a:t>
            </a:r>
            <a:r>
              <a:rPr lang="en-US" dirty="0">
                <a:solidFill>
                  <a:srgbClr val="000000"/>
                </a:solidFill>
                <a:latin typeface="Verdana" panose="020B0604030504040204" pitchFamily="34" charset="0"/>
              </a:rPr>
              <a:t>does not understand well enough what he or </a:t>
            </a:r>
            <a:r>
              <a:rPr lang="en-US" dirty="0" smtClean="0">
                <a:solidFill>
                  <a:srgbClr val="000000"/>
                </a:solidFill>
                <a:latin typeface="Verdana" panose="020B0604030504040204" pitchFamily="34" charset="0"/>
              </a:rPr>
              <a:t>she is </a:t>
            </a:r>
            <a:r>
              <a:rPr lang="en-US" dirty="0">
                <a:solidFill>
                  <a:srgbClr val="000000"/>
                </a:solidFill>
                <a:latin typeface="Verdana" panose="020B0604030504040204" pitchFamily="34" charset="0"/>
              </a:rPr>
              <a:t>doing</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Lack </a:t>
            </a:r>
            <a:r>
              <a:rPr lang="en-US" dirty="0">
                <a:solidFill>
                  <a:srgbClr val="000000"/>
                </a:solidFill>
                <a:latin typeface="Verdana" panose="020B0604030504040204" pitchFamily="34" charset="0"/>
              </a:rPr>
              <a:t>of proper education leads to errors in </a:t>
            </a:r>
            <a:r>
              <a:rPr lang="en-US" dirty="0" err="1" smtClean="0">
                <a:solidFill>
                  <a:srgbClr val="000000"/>
                </a:solidFill>
                <a:latin typeface="Verdana" panose="020B0604030504040204" pitchFamily="34" charset="0"/>
              </a:rPr>
              <a:t>specification,design</a:t>
            </a:r>
            <a:r>
              <a:rPr lang="en-US" dirty="0">
                <a:solidFill>
                  <a:srgbClr val="000000"/>
                </a:solidFill>
                <a:latin typeface="Verdana" panose="020B0604030504040204" pitchFamily="34" charset="0"/>
              </a:rPr>
              <a:t>, coding, and </a:t>
            </a:r>
            <a:r>
              <a:rPr lang="en-US" dirty="0" smtClean="0">
                <a:solidFill>
                  <a:srgbClr val="000000"/>
                </a:solidFill>
                <a:latin typeface="Verdana" panose="020B0604030504040204" pitchFamily="34" charset="0"/>
              </a:rPr>
              <a:t>testing</a:t>
            </a:r>
          </a:p>
          <a:p>
            <a:endParaRPr lang="en-US" dirty="0">
              <a:solidFill>
                <a:srgbClr val="000000"/>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Communication</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Developers </a:t>
            </a:r>
            <a:r>
              <a:rPr lang="en-US" dirty="0">
                <a:solidFill>
                  <a:srgbClr val="000000"/>
                </a:solidFill>
                <a:latin typeface="Verdana" panose="020B0604030504040204" pitchFamily="34" charset="0"/>
              </a:rPr>
              <a:t>do not know enough</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Information </a:t>
            </a:r>
            <a:r>
              <a:rPr lang="en-US" dirty="0">
                <a:solidFill>
                  <a:srgbClr val="000000"/>
                </a:solidFill>
                <a:latin typeface="Verdana" panose="020B0604030504040204" pitchFamily="34" charset="0"/>
              </a:rPr>
              <a:t>does not reach all stakeholders</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Information </a:t>
            </a:r>
            <a:r>
              <a:rPr lang="en-US" dirty="0">
                <a:solidFill>
                  <a:srgbClr val="000000"/>
                </a:solidFill>
                <a:latin typeface="Verdana" panose="020B0604030504040204" pitchFamily="34" charset="0"/>
              </a:rPr>
              <a:t>is </a:t>
            </a:r>
            <a:r>
              <a:rPr lang="en-US" dirty="0" smtClean="0">
                <a:solidFill>
                  <a:srgbClr val="000000"/>
                </a:solidFill>
                <a:latin typeface="Verdana" panose="020B0604030504040204" pitchFamily="34" charset="0"/>
              </a:rPr>
              <a:t>lost</a:t>
            </a:r>
          </a:p>
          <a:p>
            <a:endParaRPr lang="en-US" dirty="0">
              <a:solidFill>
                <a:srgbClr val="000000"/>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Oversight</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Omitting </a:t>
            </a:r>
            <a:r>
              <a:rPr lang="en-US" dirty="0">
                <a:solidFill>
                  <a:srgbClr val="000000"/>
                </a:solidFill>
                <a:latin typeface="Verdana" panose="020B0604030504040204" pitchFamily="34" charset="0"/>
              </a:rPr>
              <a:t>to do necessary </a:t>
            </a:r>
            <a:r>
              <a:rPr lang="en-US" dirty="0" smtClean="0">
                <a:solidFill>
                  <a:srgbClr val="000000"/>
                </a:solidFill>
                <a:latin typeface="Verdana" panose="020B0604030504040204" pitchFamily="34" charset="0"/>
              </a:rPr>
              <a:t>things</a:t>
            </a:r>
          </a:p>
          <a:p>
            <a:endParaRPr lang="en-US" dirty="0">
              <a:solidFill>
                <a:srgbClr val="000000"/>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Transcription</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Developer </a:t>
            </a:r>
            <a:r>
              <a:rPr lang="en-US" dirty="0">
                <a:solidFill>
                  <a:srgbClr val="000000"/>
                </a:solidFill>
                <a:latin typeface="Verdana" panose="020B0604030504040204" pitchFamily="34" charset="0"/>
              </a:rPr>
              <a:t>knows what to do but simply makes a </a:t>
            </a:r>
            <a:r>
              <a:rPr lang="en-US" dirty="0" smtClean="0">
                <a:solidFill>
                  <a:srgbClr val="000000"/>
                </a:solidFill>
                <a:latin typeface="Verdana" panose="020B0604030504040204" pitchFamily="34" charset="0"/>
              </a:rPr>
              <a:t>mistake</a:t>
            </a:r>
          </a:p>
          <a:p>
            <a:endParaRPr lang="en-US" dirty="0" smtClean="0">
              <a:solidFill>
                <a:srgbClr val="000000"/>
              </a:solidFill>
              <a:latin typeface="Verdana" panose="020B0604030504040204" pitchFamily="34" charset="0"/>
            </a:endParaRPr>
          </a:p>
          <a:p>
            <a:r>
              <a:rPr lang="en-US" sz="2000" b="0" i="0" u="none" strike="noStrike" baseline="0" dirty="0" smtClean="0">
                <a:solidFill>
                  <a:srgbClr val="FF0000"/>
                </a:solidFill>
                <a:latin typeface="Verdana" panose="020B0604030504040204" pitchFamily="34" charset="0"/>
              </a:rPr>
              <a:t>Process</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Process </a:t>
            </a:r>
            <a:r>
              <a:rPr lang="en-US" dirty="0">
                <a:solidFill>
                  <a:srgbClr val="000000"/>
                </a:solidFill>
                <a:latin typeface="Verdana" panose="020B0604030504040204" pitchFamily="34" charset="0"/>
              </a:rPr>
              <a:t>is not applicable for the actual situation</a:t>
            </a:r>
          </a:p>
          <a:p>
            <a:r>
              <a:rPr lang="en-US" sz="1400" b="0" i="0" u="none" strike="noStrike" baseline="0" dirty="0" smtClean="0">
                <a:solidFill>
                  <a:srgbClr val="FF0000"/>
                </a:solidFill>
                <a:latin typeface="Wingdings-Regular"/>
              </a:rPr>
              <a:t>􀂾    </a:t>
            </a:r>
            <a:r>
              <a:rPr lang="en-US" dirty="0" smtClean="0">
                <a:solidFill>
                  <a:srgbClr val="000000"/>
                </a:solidFill>
                <a:latin typeface="Verdana" panose="020B0604030504040204" pitchFamily="34" charset="0"/>
              </a:rPr>
              <a:t>Process </a:t>
            </a:r>
            <a:r>
              <a:rPr lang="en-US" dirty="0">
                <a:solidFill>
                  <a:srgbClr val="000000"/>
                </a:solidFill>
                <a:latin typeface="Verdana" panose="020B0604030504040204" pitchFamily="34" charset="0"/>
              </a:rPr>
              <a:t>places restrictions that cause errors</a:t>
            </a:r>
            <a:endParaRPr lang="en-US" dirty="0"/>
          </a:p>
        </p:txBody>
      </p:sp>
    </p:spTree>
    <p:extLst>
      <p:ext uri="{BB962C8B-B14F-4D97-AF65-F5344CB8AC3E}">
        <p14:creationId xmlns:p14="http://schemas.microsoft.com/office/powerpoint/2010/main" val="18645198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of testing</a:t>
            </a:r>
          </a:p>
        </p:txBody>
      </p:sp>
      <p:sp>
        <p:nvSpPr>
          <p:cNvPr id="3" name="Content Placeholder 2"/>
          <p:cNvSpPr>
            <a:spLocks noGrp="1"/>
          </p:cNvSpPr>
          <p:nvPr>
            <p:ph idx="1"/>
          </p:nvPr>
        </p:nvSpPr>
        <p:spPr/>
        <p:txBody>
          <a:bodyPr>
            <a:normAutofit/>
          </a:bodyPr>
          <a:lstStyle/>
          <a:p>
            <a:r>
              <a:rPr lang="en-US" dirty="0"/>
              <a:t>To find defects before they cause a production system to fail.</a:t>
            </a:r>
          </a:p>
          <a:p>
            <a:r>
              <a:rPr lang="en-US" dirty="0" smtClean="0"/>
              <a:t>To </a:t>
            </a:r>
            <a:r>
              <a:rPr lang="en-US" dirty="0"/>
              <a:t>bring the tested software, after correction of the identified defects</a:t>
            </a:r>
          </a:p>
          <a:p>
            <a:pPr marL="0" indent="0">
              <a:buNone/>
            </a:pPr>
            <a:r>
              <a:rPr lang="en-US" dirty="0" smtClean="0"/>
              <a:t>  and </a:t>
            </a:r>
            <a:r>
              <a:rPr lang="en-US" dirty="0"/>
              <a:t>retesting, to an acceptable level of quality.</a:t>
            </a:r>
          </a:p>
          <a:p>
            <a:r>
              <a:rPr lang="en-US" dirty="0" smtClean="0"/>
              <a:t>To </a:t>
            </a:r>
            <a:r>
              <a:rPr lang="en-US" dirty="0"/>
              <a:t>perform the required tests efficiently and effectively, within the</a:t>
            </a:r>
          </a:p>
          <a:p>
            <a:pPr marL="0" indent="0">
              <a:buNone/>
            </a:pPr>
            <a:r>
              <a:rPr lang="en-US" dirty="0" smtClean="0"/>
              <a:t>  limits </a:t>
            </a:r>
            <a:r>
              <a:rPr lang="en-US" dirty="0"/>
              <a:t>budgetary and scheduling limitation.</a:t>
            </a:r>
          </a:p>
          <a:p>
            <a:r>
              <a:rPr lang="en-US" dirty="0" smtClean="0"/>
              <a:t>To </a:t>
            </a:r>
            <a:r>
              <a:rPr lang="en-US" dirty="0"/>
              <a:t>compile a record of software errors for use in error prevention (</a:t>
            </a:r>
            <a:r>
              <a:rPr lang="en-US" dirty="0" smtClean="0"/>
              <a:t>by corrective </a:t>
            </a:r>
            <a:r>
              <a:rPr lang="en-US" dirty="0"/>
              <a:t>and preventive actions)</a:t>
            </a:r>
          </a:p>
        </p:txBody>
      </p:sp>
    </p:spTree>
    <p:extLst>
      <p:ext uri="{BB962C8B-B14F-4D97-AF65-F5344CB8AC3E}">
        <p14:creationId xmlns:p14="http://schemas.microsoft.com/office/powerpoint/2010/main" val="1269944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43790" y="527134"/>
            <a:ext cx="9775908" cy="6162425"/>
          </a:xfrm>
          <a:prstGeom prst="rect">
            <a:avLst/>
          </a:prstGeom>
        </p:spPr>
      </p:pic>
    </p:spTree>
    <p:extLst>
      <p:ext uri="{BB962C8B-B14F-4D97-AF65-F5344CB8AC3E}">
        <p14:creationId xmlns:p14="http://schemas.microsoft.com/office/powerpoint/2010/main" val="17693458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Who is a </a:t>
            </a:r>
            <a:r>
              <a:rPr lang="en-US" i="1" dirty="0" err="1" smtClean="0"/>
              <a:t>SoftwareTester</a:t>
            </a:r>
            <a:r>
              <a:rPr lang="en-US" i="1" dirty="0"/>
              <a:t>??..</a:t>
            </a:r>
            <a:endParaRPr lang="en-US" dirty="0"/>
          </a:p>
        </p:txBody>
      </p:sp>
      <p:sp>
        <p:nvSpPr>
          <p:cNvPr id="3" name="Content Placeholder 2"/>
          <p:cNvSpPr>
            <a:spLocks noGrp="1"/>
          </p:cNvSpPr>
          <p:nvPr>
            <p:ph idx="1"/>
          </p:nvPr>
        </p:nvSpPr>
        <p:spPr>
          <a:xfrm>
            <a:off x="838200" y="1825624"/>
            <a:ext cx="10515600" cy="4638785"/>
          </a:xfrm>
        </p:spPr>
        <p:txBody>
          <a:bodyPr/>
          <a:lstStyle/>
          <a:p>
            <a:r>
              <a:rPr lang="en-US" dirty="0"/>
              <a:t>Software Tester is the one who performs testing </a:t>
            </a:r>
            <a:r>
              <a:rPr lang="en-US" dirty="0" smtClean="0"/>
              <a:t>and find </a:t>
            </a:r>
            <a:r>
              <a:rPr lang="en-US" dirty="0"/>
              <a:t>bugs, if they </a:t>
            </a:r>
            <a:r>
              <a:rPr lang="en-US" dirty="0" smtClean="0"/>
              <a:t>exist </a:t>
            </a:r>
            <a:r>
              <a:rPr lang="en-US" dirty="0"/>
              <a:t>in the tested application</a:t>
            </a:r>
            <a:r>
              <a:rPr lang="en-US" dirty="0" smtClean="0"/>
              <a:t>.</a:t>
            </a:r>
          </a:p>
          <a:p>
            <a:pPr marL="0" indent="0">
              <a:buNone/>
            </a:pPr>
            <a:endParaRPr lang="en-US" dirty="0"/>
          </a:p>
        </p:txBody>
      </p:sp>
      <p:pic>
        <p:nvPicPr>
          <p:cNvPr id="4" name="Picture 3"/>
          <p:cNvPicPr>
            <a:picLocks noChangeAspect="1"/>
          </p:cNvPicPr>
          <p:nvPr/>
        </p:nvPicPr>
        <p:blipFill>
          <a:blip r:embed="rId2"/>
          <a:stretch>
            <a:fillRect/>
          </a:stretch>
        </p:blipFill>
        <p:spPr>
          <a:xfrm>
            <a:off x="2059388" y="2664016"/>
            <a:ext cx="8189427" cy="3800393"/>
          </a:xfrm>
          <a:prstGeom prst="rect">
            <a:avLst/>
          </a:prstGeom>
        </p:spPr>
      </p:pic>
    </p:spTree>
    <p:extLst>
      <p:ext uri="{BB962C8B-B14F-4D97-AF65-F5344CB8AC3E}">
        <p14:creationId xmlns:p14="http://schemas.microsoft.com/office/powerpoint/2010/main" val="91106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7850"/>
          </a:xfrm>
        </p:spPr>
        <p:txBody>
          <a:bodyPr>
            <a:normAutofit fontScale="90000"/>
          </a:bodyPr>
          <a:lstStyle/>
          <a:p>
            <a:r>
              <a:rPr lang="en-US" dirty="0" smtClean="0"/>
              <a:t>Skills Required for Tester</a:t>
            </a:r>
            <a:endParaRPr lang="en-US" dirty="0"/>
          </a:p>
        </p:txBody>
      </p:sp>
      <p:sp>
        <p:nvSpPr>
          <p:cNvPr id="3" name="Content Placeholder 2"/>
          <p:cNvSpPr>
            <a:spLocks noGrp="1"/>
          </p:cNvSpPr>
          <p:nvPr>
            <p:ph idx="1"/>
          </p:nvPr>
        </p:nvSpPr>
        <p:spPr>
          <a:xfrm>
            <a:off x="838200" y="942976"/>
            <a:ext cx="10515600" cy="5233987"/>
          </a:xfrm>
        </p:spPr>
        <p:txBody>
          <a:bodyPr/>
          <a:lstStyle/>
          <a:p>
            <a:r>
              <a:rPr lang="en-US" dirty="0" smtClean="0"/>
              <a:t>Communication skills</a:t>
            </a:r>
          </a:p>
          <a:p>
            <a:r>
              <a:rPr lang="en-US" dirty="0" smtClean="0"/>
              <a:t>Domain knowledge</a:t>
            </a:r>
          </a:p>
          <a:p>
            <a:r>
              <a:rPr lang="en-US" dirty="0" smtClean="0"/>
              <a:t>Desire to learn</a:t>
            </a:r>
          </a:p>
          <a:p>
            <a:r>
              <a:rPr lang="en-US" dirty="0" smtClean="0"/>
              <a:t>Technical skills</a:t>
            </a:r>
          </a:p>
          <a:p>
            <a:r>
              <a:rPr lang="en-US" dirty="0" smtClean="0"/>
              <a:t>Analytical skills</a:t>
            </a:r>
          </a:p>
          <a:p>
            <a:r>
              <a:rPr lang="en-US" dirty="0" smtClean="0"/>
              <a:t>Planning</a:t>
            </a:r>
          </a:p>
          <a:p>
            <a:r>
              <a:rPr lang="en-US" dirty="0" smtClean="0"/>
              <a:t>Integrity</a:t>
            </a:r>
          </a:p>
          <a:p>
            <a:r>
              <a:rPr lang="en-US" dirty="0" smtClean="0"/>
              <a:t>Curiosity</a:t>
            </a:r>
          </a:p>
          <a:p>
            <a:r>
              <a:rPr lang="en-US" dirty="0" smtClean="0"/>
              <a:t>Think from users perspective</a:t>
            </a:r>
          </a:p>
          <a:p>
            <a:r>
              <a:rPr lang="en-US" dirty="0" smtClean="0"/>
              <a:t>Be a good judge of your product</a:t>
            </a:r>
            <a:endParaRPr lang="en-US" dirty="0"/>
          </a:p>
        </p:txBody>
      </p:sp>
    </p:spTree>
    <p:extLst>
      <p:ext uri="{BB962C8B-B14F-4D97-AF65-F5344CB8AC3E}">
        <p14:creationId xmlns:p14="http://schemas.microsoft.com/office/powerpoint/2010/main" val="658901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330033"/>
                </a:solidFill>
                <a:latin typeface="Arial"/>
                <a:ea typeface="Arial"/>
                <a:cs typeface="Arial"/>
                <a:sym typeface="Arial"/>
              </a:rPr>
              <a:t>Software Quality Concept </a:t>
            </a:r>
            <a:endParaRPr lang="en-US" dirty="0"/>
          </a:p>
        </p:txBody>
      </p:sp>
      <p:sp>
        <p:nvSpPr>
          <p:cNvPr id="3" name="Content Placeholder 2"/>
          <p:cNvSpPr>
            <a:spLocks noGrp="1"/>
          </p:cNvSpPr>
          <p:nvPr>
            <p:ph idx="1"/>
          </p:nvPr>
        </p:nvSpPr>
        <p:spPr/>
        <p:txBody>
          <a:bodyPr/>
          <a:lstStyle/>
          <a:p>
            <a:pPr marL="0" indent="0">
              <a:lnSpc>
                <a:spcPct val="100000"/>
              </a:lnSpc>
              <a:spcBef>
                <a:spcPts val="0"/>
              </a:spcBef>
              <a:buNone/>
            </a:pPr>
            <a:r>
              <a:rPr lang="en-US" b="1" i="1" dirty="0" smtClean="0">
                <a:solidFill>
                  <a:srgbClr val="000000"/>
                </a:solidFill>
                <a:latin typeface="Arial"/>
                <a:ea typeface="Arial"/>
                <a:cs typeface="Arial"/>
                <a:sym typeface="Arial"/>
              </a:rPr>
              <a:t>Quality</a:t>
            </a:r>
            <a:r>
              <a:rPr lang="en-US" dirty="0" smtClean="0">
                <a:solidFill>
                  <a:srgbClr val="000000"/>
                </a:solidFill>
                <a:latin typeface="Arial"/>
                <a:ea typeface="Arial"/>
                <a:cs typeface="Arial"/>
                <a:sym typeface="Arial"/>
              </a:rPr>
              <a:t> : Quality means consistently meeting customer needs in terms of requirement, Cost and delivery schedule.</a:t>
            </a:r>
          </a:p>
          <a:p>
            <a:pPr marL="0" indent="0">
              <a:lnSpc>
                <a:spcPct val="100000"/>
              </a:lnSpc>
              <a:spcBef>
                <a:spcPts val="563"/>
              </a:spcBef>
              <a:buNone/>
            </a:pPr>
            <a:r>
              <a:rPr lang="en-US" dirty="0" smtClean="0">
                <a:solidFill>
                  <a:srgbClr val="000000"/>
                </a:solidFill>
                <a:latin typeface="Arial"/>
                <a:ea typeface="Arial"/>
                <a:cs typeface="Arial"/>
                <a:sym typeface="Arial"/>
              </a:rPr>
              <a:t>Quality of s/w is reasonably bug free, delivered on time and within budget, meets requirements and exceptions and is maintainable</a:t>
            </a:r>
            <a:endParaRPr lang="en-US" dirty="0"/>
          </a:p>
        </p:txBody>
      </p:sp>
    </p:spTree>
    <p:extLst>
      <p:ext uri="{BB962C8B-B14F-4D97-AF65-F5344CB8AC3E}">
        <p14:creationId xmlns:p14="http://schemas.microsoft.com/office/powerpoint/2010/main" val="14801788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330033"/>
                </a:solidFill>
                <a:latin typeface="Arial"/>
                <a:ea typeface="Arial"/>
                <a:cs typeface="Arial"/>
                <a:sym typeface="Arial"/>
              </a:rPr>
              <a:t>Software Quality Concept </a:t>
            </a:r>
            <a:endParaRPr lang="en-US" dirty="0"/>
          </a:p>
        </p:txBody>
      </p:sp>
      <p:sp>
        <p:nvSpPr>
          <p:cNvPr id="3" name="Content Placeholder 2"/>
          <p:cNvSpPr>
            <a:spLocks noGrp="1"/>
          </p:cNvSpPr>
          <p:nvPr>
            <p:ph idx="1"/>
          </p:nvPr>
        </p:nvSpPr>
        <p:spPr/>
        <p:txBody>
          <a:bodyPr/>
          <a:lstStyle/>
          <a:p>
            <a:pPr marL="381000" lvl="0" indent="-248355">
              <a:lnSpc>
                <a:spcPct val="100000"/>
              </a:lnSpc>
              <a:spcBef>
                <a:spcPts val="563"/>
              </a:spcBef>
              <a:buClr>
                <a:srgbClr val="000000"/>
              </a:buClr>
              <a:buSzPct val="100358"/>
              <a:buFont typeface="Arial"/>
              <a:buChar char="●"/>
            </a:pPr>
            <a:r>
              <a:rPr lang="en-US" b="1" i="1" dirty="0" smtClean="0">
                <a:solidFill>
                  <a:srgbClr val="000000"/>
                </a:solidFill>
                <a:latin typeface="Arial"/>
                <a:ea typeface="Arial"/>
                <a:cs typeface="Arial"/>
                <a:sym typeface="Arial"/>
              </a:rPr>
              <a:t>Quality Control</a:t>
            </a:r>
            <a:r>
              <a:rPr lang="en-US" dirty="0" smtClean="0">
                <a:solidFill>
                  <a:srgbClr val="000000"/>
                </a:solidFill>
                <a:latin typeface="Arial"/>
                <a:ea typeface="Arial"/>
                <a:cs typeface="Arial"/>
                <a:sym typeface="Arial"/>
              </a:rPr>
              <a:t>: “All </a:t>
            </a:r>
            <a:r>
              <a:rPr lang="en-US" b="1" dirty="0" smtClean="0">
                <a:solidFill>
                  <a:srgbClr val="000000"/>
                </a:solidFill>
                <a:latin typeface="Arial"/>
                <a:ea typeface="Arial"/>
                <a:cs typeface="Arial"/>
                <a:sym typeface="Arial"/>
              </a:rPr>
              <a:t>defined </a:t>
            </a:r>
            <a:r>
              <a:rPr lang="en-US" dirty="0" smtClean="0">
                <a:solidFill>
                  <a:srgbClr val="000000"/>
                </a:solidFill>
                <a:latin typeface="Arial"/>
                <a:ea typeface="Arial"/>
                <a:cs typeface="Arial"/>
                <a:sym typeface="Arial"/>
              </a:rPr>
              <a:t>work products and </a:t>
            </a:r>
            <a:r>
              <a:rPr lang="en-US" b="1" dirty="0" smtClean="0">
                <a:solidFill>
                  <a:srgbClr val="000000"/>
                </a:solidFill>
                <a:latin typeface="Arial"/>
                <a:ea typeface="Arial"/>
                <a:cs typeface="Arial"/>
                <a:sym typeface="Arial"/>
              </a:rPr>
              <a:t>Measurable Specifications</a:t>
            </a:r>
            <a:r>
              <a:rPr lang="en-US" dirty="0" smtClean="0">
                <a:solidFill>
                  <a:srgbClr val="000000"/>
                </a:solidFill>
                <a:latin typeface="Arial"/>
                <a:ea typeface="Arial"/>
                <a:cs typeface="Arial"/>
                <a:sym typeface="Arial"/>
              </a:rPr>
              <a:t>”  are compared with the output of each process. </a:t>
            </a:r>
          </a:p>
          <a:p>
            <a:pPr marL="381000" lvl="0" indent="-248355">
              <a:lnSpc>
                <a:spcPct val="100000"/>
              </a:lnSpc>
              <a:spcBef>
                <a:spcPts val="563"/>
              </a:spcBef>
              <a:buClr>
                <a:srgbClr val="000000"/>
              </a:buClr>
              <a:buSzPct val="100358"/>
              <a:buFont typeface="Arial"/>
              <a:buChar char="●"/>
            </a:pPr>
            <a:r>
              <a:rPr lang="en-US" dirty="0" smtClean="0">
                <a:solidFill>
                  <a:srgbClr val="000000"/>
                </a:solidFill>
                <a:latin typeface="Arial"/>
                <a:ea typeface="Arial"/>
                <a:cs typeface="Arial"/>
                <a:sym typeface="Arial"/>
              </a:rPr>
              <a:t>Quality control focuses on operational technique and activities used to fulfill and verify requirement of quality.</a:t>
            </a:r>
          </a:p>
          <a:p>
            <a:pPr marL="381000" lvl="0" indent="-248355">
              <a:lnSpc>
                <a:spcPct val="100000"/>
              </a:lnSpc>
              <a:spcBef>
                <a:spcPts val="563"/>
              </a:spcBef>
              <a:buClr>
                <a:srgbClr val="000000"/>
              </a:buClr>
              <a:buSzPct val="100358"/>
              <a:buFont typeface="Arial"/>
              <a:buChar char="●"/>
            </a:pPr>
            <a:r>
              <a:rPr lang="en-US" dirty="0" smtClean="0">
                <a:solidFill>
                  <a:srgbClr val="000000"/>
                </a:solidFill>
                <a:latin typeface="Arial"/>
                <a:ea typeface="Arial"/>
                <a:cs typeface="Arial"/>
                <a:sym typeface="Arial"/>
              </a:rPr>
              <a:t>- S/w quality involves – Series of inspection, reviews, and test used through out the s/w process. </a:t>
            </a:r>
          </a:p>
          <a:p>
            <a:endParaRPr lang="en-US" dirty="0"/>
          </a:p>
        </p:txBody>
      </p:sp>
    </p:spTree>
    <p:extLst>
      <p:ext uri="{BB962C8B-B14F-4D97-AF65-F5344CB8AC3E}">
        <p14:creationId xmlns:p14="http://schemas.microsoft.com/office/powerpoint/2010/main" val="6227681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9471" y="389652"/>
            <a:ext cx="10106108" cy="6111097"/>
          </a:xfrm>
          <a:prstGeom prst="rect">
            <a:avLst/>
          </a:prstGeom>
        </p:spPr>
        <p:txBody>
          <a:bodyPr wrap="square">
            <a:spAutoFit/>
          </a:bodyPr>
          <a:lstStyle/>
          <a:p>
            <a:pPr>
              <a:lnSpc>
                <a:spcPct val="120089"/>
              </a:lnSpc>
            </a:pPr>
            <a:r>
              <a:rPr lang="en-US" sz="3600" b="1" i="1" dirty="0" smtClean="0">
                <a:solidFill>
                  <a:srgbClr val="000000"/>
                </a:solidFill>
                <a:latin typeface="Arial"/>
                <a:ea typeface="Arial"/>
                <a:cs typeface="Arial"/>
                <a:sym typeface="Arial"/>
              </a:rPr>
              <a:t>Quality</a:t>
            </a:r>
            <a:r>
              <a:rPr lang="en-US" sz="2800" b="1" i="1" dirty="0" smtClean="0">
                <a:solidFill>
                  <a:srgbClr val="000000"/>
                </a:solidFill>
                <a:latin typeface="Arial"/>
                <a:ea typeface="Arial"/>
                <a:cs typeface="Arial"/>
                <a:sym typeface="Arial"/>
              </a:rPr>
              <a:t> Assurance (QA</a:t>
            </a:r>
            <a:r>
              <a:rPr lang="en-US" sz="2800" dirty="0" smtClean="0">
                <a:solidFill>
                  <a:srgbClr val="000000"/>
                </a:solidFill>
                <a:latin typeface="Arial"/>
                <a:ea typeface="Arial"/>
                <a:cs typeface="Arial"/>
                <a:sym typeface="Arial"/>
              </a:rPr>
              <a:t>): consist of Auditing and reporting procedure. Which are used to provide necessary data to management. In order to make decision.</a:t>
            </a:r>
          </a:p>
          <a:p>
            <a:pPr>
              <a:lnSpc>
                <a:spcPct val="120089"/>
              </a:lnSpc>
              <a:spcBef>
                <a:spcPts val="563"/>
              </a:spcBef>
            </a:pPr>
            <a:endParaRPr lang="en-US" sz="2800" dirty="0" smtClean="0">
              <a:solidFill>
                <a:srgbClr val="000000"/>
              </a:solidFill>
              <a:latin typeface="Arial"/>
              <a:ea typeface="Arial"/>
              <a:cs typeface="Arial"/>
              <a:sym typeface="Arial"/>
            </a:endParaRPr>
          </a:p>
          <a:p>
            <a:pPr marL="381000" lvl="0" indent="-248355">
              <a:lnSpc>
                <a:spcPct val="120089"/>
              </a:lnSpc>
              <a:spcBef>
                <a:spcPts val="563"/>
              </a:spcBef>
              <a:buClr>
                <a:srgbClr val="000000"/>
              </a:buClr>
              <a:buSzPct val="100358"/>
              <a:buFont typeface="Arial"/>
              <a:buChar char="●"/>
            </a:pPr>
            <a:r>
              <a:rPr lang="en-US" sz="2800" dirty="0" smtClean="0">
                <a:solidFill>
                  <a:srgbClr val="000000"/>
                </a:solidFill>
                <a:latin typeface="Arial"/>
                <a:ea typeface="Arial"/>
                <a:cs typeface="Arial"/>
                <a:sym typeface="Arial"/>
              </a:rPr>
              <a:t>Goal of Quality Assurance is to provide adequate confidence that a product or services is of the and quality expected by the customer.</a:t>
            </a:r>
          </a:p>
          <a:p>
            <a:pPr marL="381000" lvl="0" indent="-248355">
              <a:lnSpc>
                <a:spcPct val="120089"/>
              </a:lnSpc>
              <a:spcBef>
                <a:spcPts val="563"/>
              </a:spcBef>
              <a:buClr>
                <a:srgbClr val="000000"/>
              </a:buClr>
              <a:buSzPct val="100358"/>
              <a:buFont typeface="Arial"/>
              <a:buChar char="●"/>
            </a:pPr>
            <a:r>
              <a:rPr lang="en-US" sz="2800" dirty="0" smtClean="0">
                <a:solidFill>
                  <a:srgbClr val="000000"/>
                </a:solidFill>
                <a:latin typeface="Arial"/>
                <a:ea typeface="Arial"/>
                <a:cs typeface="Arial"/>
                <a:sym typeface="Arial"/>
              </a:rPr>
              <a:t>If the data provided through quality assurance identify problems, then it is management’s responsibility to address the problems &amp; apply the necessary resources to resolve quality issues. </a:t>
            </a:r>
            <a:endParaRPr lang="en-US" sz="28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3504560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0586" y="863890"/>
            <a:ext cx="10948947" cy="3865674"/>
          </a:xfrm>
          <a:prstGeom prst="rect">
            <a:avLst/>
          </a:prstGeom>
        </p:spPr>
        <p:txBody>
          <a:bodyPr wrap="square">
            <a:spAutoFit/>
          </a:bodyPr>
          <a:lstStyle/>
          <a:p>
            <a:pPr marL="381000" lvl="0" indent="-248355">
              <a:lnSpc>
                <a:spcPct val="120089"/>
              </a:lnSpc>
              <a:buClr>
                <a:srgbClr val="000000"/>
              </a:buClr>
              <a:buSzPct val="100358"/>
              <a:buFont typeface="Arial"/>
              <a:buChar char="●"/>
            </a:pPr>
            <a:r>
              <a:rPr lang="en-US" sz="2800" dirty="0" smtClean="0">
                <a:solidFill>
                  <a:srgbClr val="000000"/>
                </a:solidFill>
                <a:latin typeface="Arial"/>
                <a:ea typeface="Arial"/>
                <a:cs typeface="Arial"/>
                <a:sym typeface="Arial"/>
              </a:rPr>
              <a:t>S/w Quality Assurance is planned and systematic way to evaluate quality of s/w product standards processes and procedures.</a:t>
            </a:r>
          </a:p>
          <a:p>
            <a:pPr marL="381000" lvl="0" indent="-248355">
              <a:lnSpc>
                <a:spcPct val="120089"/>
              </a:lnSpc>
              <a:spcBef>
                <a:spcPts val="563"/>
              </a:spcBef>
              <a:buClr>
                <a:srgbClr val="000000"/>
              </a:buClr>
              <a:buSzPct val="100358"/>
              <a:buFont typeface="Arial"/>
              <a:buChar char="●"/>
            </a:pPr>
            <a:r>
              <a:rPr lang="en-US" sz="2800" dirty="0" smtClean="0">
                <a:solidFill>
                  <a:srgbClr val="000000"/>
                </a:solidFill>
                <a:latin typeface="Arial"/>
                <a:ea typeface="Arial"/>
                <a:cs typeface="Arial"/>
                <a:sym typeface="Arial"/>
              </a:rPr>
              <a:t>SQA includes the process of insuring that standards and procedures are established and are followed throughout the software acquisition Life cycle.</a:t>
            </a:r>
          </a:p>
          <a:p>
            <a:pPr marL="381000" lvl="0" indent="-248355">
              <a:lnSpc>
                <a:spcPct val="120089"/>
              </a:lnSpc>
              <a:spcBef>
                <a:spcPts val="563"/>
              </a:spcBef>
              <a:buClr>
                <a:srgbClr val="000000"/>
              </a:buClr>
              <a:buSzPct val="100358"/>
              <a:buFont typeface="Arial"/>
              <a:buChar char="●"/>
            </a:pPr>
            <a:r>
              <a:rPr lang="en-US" sz="2800" dirty="0" smtClean="0">
                <a:solidFill>
                  <a:srgbClr val="000000"/>
                </a:solidFill>
                <a:latin typeface="Arial"/>
                <a:ea typeface="Arial"/>
                <a:cs typeface="Arial"/>
                <a:sym typeface="Arial"/>
              </a:rPr>
              <a:t>“ </a:t>
            </a:r>
            <a:r>
              <a:rPr lang="en-US" sz="2800" i="1" dirty="0" smtClean="0">
                <a:solidFill>
                  <a:srgbClr val="000000"/>
                </a:solidFill>
                <a:latin typeface="Arial"/>
                <a:ea typeface="Arial"/>
                <a:cs typeface="Arial"/>
                <a:sym typeface="Arial"/>
              </a:rPr>
              <a:t>SQA consists of a means of monitoring the s/w engineering process and methods used to insure quality </a:t>
            </a:r>
            <a:r>
              <a:rPr lang="en-US" i="1" dirty="0" smtClean="0">
                <a:solidFill>
                  <a:srgbClr val="000000"/>
                </a:solidFill>
                <a:latin typeface="Arial"/>
                <a:ea typeface="Arial"/>
                <a:cs typeface="Arial"/>
                <a:sym typeface="Arial"/>
              </a:rPr>
              <a:t>”</a:t>
            </a:r>
            <a:r>
              <a:rPr lang="en-US" dirty="0" smtClean="0">
                <a:solidFill>
                  <a:srgbClr val="000000"/>
                </a:solidFill>
                <a:latin typeface="Arial"/>
                <a:ea typeface="Arial"/>
                <a:cs typeface="Arial"/>
                <a:sym typeface="Arial"/>
              </a:rPr>
              <a:t> </a:t>
            </a:r>
            <a:endParaRPr lang="en-US"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9424249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392" y="550564"/>
            <a:ext cx="11028460" cy="5276573"/>
          </a:xfrm>
          <a:prstGeom prst="rect">
            <a:avLst/>
          </a:prstGeom>
        </p:spPr>
        <p:txBody>
          <a:bodyPr wrap="square">
            <a:spAutoFit/>
          </a:bodyPr>
          <a:lstStyle/>
          <a:p>
            <a:pPr marL="381000" lvl="0" indent="-234244">
              <a:lnSpc>
                <a:spcPct val="108173"/>
              </a:lnSpc>
              <a:buClr>
                <a:srgbClr val="000000"/>
              </a:buClr>
              <a:buSzPct val="99616"/>
              <a:buFont typeface="Arial"/>
              <a:buChar char="●"/>
            </a:pPr>
            <a:r>
              <a:rPr lang="en-US" sz="2400" b="1" dirty="0" smtClean="0">
                <a:solidFill>
                  <a:srgbClr val="000000"/>
                </a:solidFill>
                <a:latin typeface="Arial"/>
                <a:ea typeface="Arial"/>
                <a:cs typeface="Arial"/>
                <a:sym typeface="Arial"/>
              </a:rPr>
              <a:t>Standards:</a:t>
            </a:r>
            <a:r>
              <a:rPr lang="en-US" sz="2400" dirty="0" smtClean="0">
                <a:solidFill>
                  <a:srgbClr val="000000"/>
                </a:solidFill>
                <a:latin typeface="Arial"/>
                <a:ea typeface="Arial"/>
                <a:cs typeface="Arial"/>
                <a:sym typeface="Arial"/>
              </a:rPr>
              <a:t> Standards are the criteria’s to which the s/w product are compared. </a:t>
            </a:r>
          </a:p>
          <a:p>
            <a:pPr marL="381000" lvl="0" indent="-220133">
              <a:lnSpc>
                <a:spcPct val="108173"/>
              </a:lnSpc>
              <a:spcBef>
                <a:spcPts val="521"/>
              </a:spcBef>
              <a:buClr>
                <a:srgbClr val="000000"/>
              </a:buClr>
              <a:buSzPct val="98765"/>
              <a:buFont typeface="Arial"/>
              <a:buChar char="●"/>
            </a:pPr>
            <a:r>
              <a:rPr lang="en-US" sz="2000" b="1" dirty="0" smtClean="0">
                <a:solidFill>
                  <a:srgbClr val="000000"/>
                </a:solidFill>
                <a:latin typeface="Arial"/>
                <a:ea typeface="Arial"/>
                <a:cs typeface="Arial"/>
                <a:sym typeface="Arial"/>
              </a:rPr>
              <a:t>Documentations Standards</a:t>
            </a:r>
            <a:r>
              <a:rPr lang="en-US" sz="2400" dirty="0" smtClean="0">
                <a:solidFill>
                  <a:srgbClr val="000000"/>
                </a:solidFill>
                <a:latin typeface="Arial"/>
                <a:ea typeface="Arial"/>
                <a:cs typeface="Arial"/>
                <a:sym typeface="Arial"/>
              </a:rPr>
              <a:t>: Specify form and</a:t>
            </a:r>
          </a:p>
          <a:p>
            <a:pPr marL="381000" lvl="0" indent="-50800">
              <a:lnSpc>
                <a:spcPct val="108173"/>
              </a:lnSpc>
              <a:spcBef>
                <a:spcPts val="521"/>
              </a:spcBef>
              <a:buClr>
                <a:srgbClr val="000000"/>
              </a:buClr>
              <a:buSzPct val="99616"/>
            </a:pPr>
            <a:r>
              <a:rPr lang="en-US" sz="2400" dirty="0" smtClean="0">
                <a:solidFill>
                  <a:srgbClr val="000000"/>
                </a:solidFill>
                <a:latin typeface="Arial"/>
                <a:ea typeface="Arial"/>
                <a:cs typeface="Arial"/>
                <a:sym typeface="Arial"/>
              </a:rPr>
              <a:t>Contents for planning, analysis and product documentation and consistency through out a project. </a:t>
            </a:r>
          </a:p>
          <a:p>
            <a:pPr marL="381000" lvl="0" indent="-220133">
              <a:lnSpc>
                <a:spcPct val="108173"/>
              </a:lnSpc>
              <a:spcBef>
                <a:spcPts val="521"/>
              </a:spcBef>
              <a:buClr>
                <a:srgbClr val="000000"/>
              </a:buClr>
              <a:buSzPct val="98765"/>
              <a:buFont typeface="Arial"/>
              <a:buChar char="●"/>
            </a:pPr>
            <a:r>
              <a:rPr lang="en-US" sz="2000" b="1" dirty="0" smtClean="0">
                <a:solidFill>
                  <a:srgbClr val="000000"/>
                </a:solidFill>
                <a:latin typeface="Arial"/>
                <a:ea typeface="Arial"/>
                <a:cs typeface="Arial"/>
                <a:sym typeface="Arial"/>
              </a:rPr>
              <a:t>Design Standards</a:t>
            </a:r>
            <a:r>
              <a:rPr lang="en-US" sz="2400" dirty="0" smtClean="0">
                <a:solidFill>
                  <a:srgbClr val="000000"/>
                </a:solidFill>
                <a:latin typeface="Arial"/>
                <a:ea typeface="Arial"/>
                <a:cs typeface="Arial"/>
                <a:sym typeface="Arial"/>
              </a:rPr>
              <a:t>: Specify forms and contents of design product. They provide rules and methods for translating the s/w requirements into the s/w design. </a:t>
            </a:r>
          </a:p>
          <a:p>
            <a:pPr marL="381000" lvl="0" indent="-220133">
              <a:lnSpc>
                <a:spcPct val="108173"/>
              </a:lnSpc>
              <a:spcBef>
                <a:spcPts val="521"/>
              </a:spcBef>
              <a:buClr>
                <a:srgbClr val="000000"/>
              </a:buClr>
              <a:buSzPct val="98765"/>
              <a:buFont typeface="Arial"/>
              <a:buChar char="●"/>
            </a:pPr>
            <a:r>
              <a:rPr lang="en-US" sz="2000" b="1" dirty="0" smtClean="0">
                <a:solidFill>
                  <a:srgbClr val="000000"/>
                </a:solidFill>
                <a:latin typeface="Arial"/>
                <a:ea typeface="Arial"/>
                <a:cs typeface="Arial"/>
                <a:sym typeface="Arial"/>
              </a:rPr>
              <a:t>Code Standards</a:t>
            </a:r>
            <a:r>
              <a:rPr lang="en-US" sz="2400" dirty="0" smtClean="0">
                <a:solidFill>
                  <a:srgbClr val="000000"/>
                </a:solidFill>
                <a:latin typeface="Arial"/>
                <a:ea typeface="Arial"/>
                <a:cs typeface="Arial"/>
                <a:sym typeface="Arial"/>
              </a:rPr>
              <a:t> : Specify the language in which code is to written and define any restrictions on use of language features.</a:t>
            </a:r>
          </a:p>
          <a:p>
            <a:pPr marL="381000" lvl="0" indent="-234244">
              <a:lnSpc>
                <a:spcPct val="108173"/>
              </a:lnSpc>
              <a:spcBef>
                <a:spcPts val="521"/>
              </a:spcBef>
              <a:buClr>
                <a:srgbClr val="000000"/>
              </a:buClr>
              <a:buSzPct val="99616"/>
              <a:buFont typeface="Arial"/>
              <a:buChar char="●"/>
            </a:pPr>
            <a:r>
              <a:rPr lang="en-US" sz="2400" dirty="0" smtClean="0">
                <a:solidFill>
                  <a:srgbClr val="000000"/>
                </a:solidFill>
                <a:latin typeface="Arial"/>
                <a:ea typeface="Arial"/>
                <a:cs typeface="Arial"/>
                <a:sym typeface="Arial"/>
              </a:rPr>
              <a:t>They define legal language structures, style conversions, rules for data structure and interface.</a:t>
            </a:r>
          </a:p>
          <a:p>
            <a:pPr marL="381000" lvl="0" indent="-248355">
              <a:lnSpc>
                <a:spcPct val="108035"/>
              </a:lnSpc>
              <a:spcBef>
                <a:spcPts val="563"/>
              </a:spcBef>
              <a:buClr>
                <a:srgbClr val="000000"/>
              </a:buClr>
              <a:buSzPct val="100358"/>
              <a:buFont typeface="Arial"/>
              <a:buChar char="●"/>
            </a:pPr>
            <a:r>
              <a:rPr lang="en-US" sz="2400" b="1" dirty="0" smtClean="0">
                <a:solidFill>
                  <a:srgbClr val="000000"/>
                </a:solidFill>
                <a:latin typeface="Arial"/>
                <a:ea typeface="Arial"/>
                <a:cs typeface="Arial"/>
                <a:sym typeface="Arial"/>
              </a:rPr>
              <a:t>Procedure: </a:t>
            </a:r>
            <a:r>
              <a:rPr lang="en-US" sz="2400" dirty="0" smtClean="0">
                <a:solidFill>
                  <a:srgbClr val="000000"/>
                </a:solidFill>
                <a:latin typeface="Arial"/>
                <a:ea typeface="Arial"/>
                <a:cs typeface="Arial"/>
                <a:sym typeface="Arial"/>
              </a:rPr>
              <a:t>Expected steps to be followed in carrying out a process.</a:t>
            </a:r>
            <a:endParaRPr lang="en-US" sz="2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8363518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u="sng" dirty="0" smtClean="0">
                <a:solidFill>
                  <a:srgbClr val="330033"/>
                </a:solidFill>
                <a:latin typeface="Arial"/>
                <a:ea typeface="Arial"/>
                <a:cs typeface="Arial"/>
                <a:sym typeface="Arial"/>
              </a:rPr>
              <a:t>Cost Of Quality</a:t>
            </a:r>
            <a:r>
              <a:rPr lang="en-US" sz="5400" dirty="0" smtClean="0">
                <a:solidFill>
                  <a:srgbClr val="330033"/>
                </a:solidFill>
                <a:latin typeface="Arial"/>
                <a:ea typeface="Arial"/>
                <a:cs typeface="Arial"/>
                <a:sym typeface="Arial"/>
              </a:rPr>
              <a:t> </a:t>
            </a:r>
            <a:endParaRPr lang="en-US" dirty="0"/>
          </a:p>
        </p:txBody>
      </p:sp>
      <p:sp>
        <p:nvSpPr>
          <p:cNvPr id="4" name="Content Placeholder 3"/>
          <p:cNvSpPr>
            <a:spLocks noGrp="1"/>
          </p:cNvSpPr>
          <p:nvPr>
            <p:ph idx="1"/>
          </p:nvPr>
        </p:nvSpPr>
        <p:spPr/>
        <p:txBody>
          <a:bodyPr>
            <a:normAutofit fontScale="85000" lnSpcReduction="10000"/>
          </a:bodyPr>
          <a:lstStyle/>
          <a:p>
            <a:pPr marL="0" indent="0">
              <a:lnSpc>
                <a:spcPct val="120089"/>
              </a:lnSpc>
              <a:spcBef>
                <a:spcPts val="0"/>
              </a:spcBef>
              <a:buNone/>
            </a:pPr>
            <a:r>
              <a:rPr lang="en-US" dirty="0" smtClean="0">
                <a:solidFill>
                  <a:srgbClr val="000000"/>
                </a:solidFill>
                <a:latin typeface="Arial"/>
                <a:ea typeface="Arial"/>
                <a:cs typeface="Arial"/>
                <a:sym typeface="Arial"/>
              </a:rPr>
              <a:t>Cost of Quality is the total amount the company spends to achieve quality of product.</a:t>
            </a:r>
          </a:p>
          <a:p>
            <a:pPr marL="0" indent="0">
              <a:lnSpc>
                <a:spcPct val="120089"/>
              </a:lnSpc>
              <a:spcBef>
                <a:spcPts val="563"/>
              </a:spcBef>
              <a:buNone/>
            </a:pPr>
            <a:r>
              <a:rPr lang="en-US" dirty="0" smtClean="0">
                <a:solidFill>
                  <a:srgbClr val="000000"/>
                </a:solidFill>
                <a:latin typeface="Arial"/>
                <a:ea typeface="Arial"/>
                <a:cs typeface="Arial"/>
                <a:sym typeface="Arial"/>
              </a:rPr>
              <a:t>Quality of cost is divided into cost associate with prevention, appraisal and failure.</a:t>
            </a:r>
          </a:p>
          <a:p>
            <a:pPr marL="0" indent="0">
              <a:lnSpc>
                <a:spcPct val="120089"/>
              </a:lnSpc>
              <a:spcBef>
                <a:spcPts val="563"/>
              </a:spcBef>
              <a:buNone/>
            </a:pPr>
            <a:r>
              <a:rPr lang="en-US" dirty="0" smtClean="0">
                <a:solidFill>
                  <a:srgbClr val="000000"/>
                </a:solidFill>
                <a:latin typeface="Arial"/>
                <a:ea typeface="Arial"/>
                <a:cs typeface="Arial"/>
                <a:sym typeface="Arial"/>
              </a:rPr>
              <a:t>1. Prevention Cost: Quality Panning, Formal Technical reviews, test </a:t>
            </a:r>
            <a:r>
              <a:rPr lang="en-US" dirty="0" err="1" smtClean="0">
                <a:solidFill>
                  <a:srgbClr val="000000"/>
                </a:solidFill>
                <a:latin typeface="Arial"/>
                <a:ea typeface="Arial"/>
                <a:cs typeface="Arial"/>
                <a:sym typeface="Arial"/>
              </a:rPr>
              <a:t>equipments</a:t>
            </a:r>
            <a:r>
              <a:rPr lang="en-US" dirty="0" smtClean="0">
                <a:solidFill>
                  <a:srgbClr val="000000"/>
                </a:solidFill>
                <a:latin typeface="Arial"/>
                <a:ea typeface="Arial"/>
                <a:cs typeface="Arial"/>
                <a:sym typeface="Arial"/>
              </a:rPr>
              <a:t>, staff training.</a:t>
            </a:r>
          </a:p>
          <a:p>
            <a:pPr marL="0" indent="0">
              <a:lnSpc>
                <a:spcPct val="120089"/>
              </a:lnSpc>
              <a:spcBef>
                <a:spcPts val="563"/>
              </a:spcBef>
              <a:buNone/>
            </a:pPr>
            <a:r>
              <a:rPr lang="en-US" dirty="0" smtClean="0">
                <a:solidFill>
                  <a:srgbClr val="000000"/>
                </a:solidFill>
                <a:latin typeface="Arial"/>
                <a:ea typeface="Arial"/>
                <a:cs typeface="Arial"/>
                <a:sym typeface="Arial"/>
              </a:rPr>
              <a:t>2. Appraisal Cost: Equipment </a:t>
            </a:r>
            <a:r>
              <a:rPr lang="en-US" dirty="0" err="1" smtClean="0">
                <a:solidFill>
                  <a:srgbClr val="000000"/>
                </a:solidFill>
                <a:latin typeface="Arial"/>
                <a:ea typeface="Arial"/>
                <a:cs typeface="Arial"/>
                <a:sym typeface="Arial"/>
              </a:rPr>
              <a:t>Maint</a:t>
            </a:r>
            <a:r>
              <a:rPr lang="en-US" dirty="0" smtClean="0">
                <a:solidFill>
                  <a:srgbClr val="000000"/>
                </a:solidFill>
                <a:latin typeface="Arial"/>
                <a:ea typeface="Arial"/>
                <a:cs typeface="Arial"/>
                <a:sym typeface="Arial"/>
              </a:rPr>
              <a:t>. </a:t>
            </a:r>
            <a:r>
              <a:rPr lang="en-US" dirty="0" err="1" smtClean="0">
                <a:solidFill>
                  <a:srgbClr val="000000"/>
                </a:solidFill>
                <a:latin typeface="Arial"/>
                <a:ea typeface="Arial"/>
                <a:cs typeface="Arial"/>
                <a:sym typeface="Arial"/>
              </a:rPr>
              <a:t>Testing.In</a:t>
            </a:r>
            <a:r>
              <a:rPr lang="en-US" dirty="0" smtClean="0">
                <a:solidFill>
                  <a:srgbClr val="000000"/>
                </a:solidFill>
                <a:latin typeface="Arial"/>
                <a:ea typeface="Arial"/>
                <a:cs typeface="Arial"/>
                <a:sym typeface="Arial"/>
              </a:rPr>
              <a:t> process and Inter process Inspection.</a:t>
            </a:r>
          </a:p>
          <a:p>
            <a:pPr marL="0" indent="0">
              <a:lnSpc>
                <a:spcPct val="120089"/>
              </a:lnSpc>
              <a:spcBef>
                <a:spcPts val="563"/>
              </a:spcBef>
              <a:buNone/>
            </a:pPr>
            <a:r>
              <a:rPr lang="en-US" dirty="0" smtClean="0">
                <a:solidFill>
                  <a:srgbClr val="000000"/>
                </a:solidFill>
                <a:latin typeface="Arial"/>
                <a:ea typeface="Arial"/>
                <a:cs typeface="Arial"/>
                <a:sym typeface="Arial"/>
              </a:rPr>
              <a:t>3. Failure Cost : It will not consider if there is no defect before shipping. </a:t>
            </a:r>
          </a:p>
          <a:p>
            <a:endParaRPr lang="en-US" dirty="0"/>
          </a:p>
        </p:txBody>
      </p:sp>
    </p:spTree>
    <p:extLst>
      <p:ext uri="{BB962C8B-B14F-4D97-AF65-F5344CB8AC3E}">
        <p14:creationId xmlns:p14="http://schemas.microsoft.com/office/powerpoint/2010/main" val="232687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4"/>
          <p:cNvPicPr preferRelativeResize="0"/>
          <p:nvPr/>
        </p:nvPicPr>
        <p:blipFill>
          <a:blip r:embed="rId2">
            <a:alphaModFix/>
          </a:blip>
          <a:stretch>
            <a:fillRect/>
          </a:stretch>
        </p:blipFill>
        <p:spPr>
          <a:xfrm>
            <a:off x="1523999" y="779228"/>
            <a:ext cx="8431033" cy="5401397"/>
          </a:xfrm>
          <a:prstGeom prst="rect">
            <a:avLst/>
          </a:prstGeom>
          <a:noFill/>
          <a:ln>
            <a:noFill/>
          </a:ln>
        </p:spPr>
      </p:pic>
    </p:spTree>
    <p:extLst>
      <p:ext uri="{BB962C8B-B14F-4D97-AF65-F5344CB8AC3E}">
        <p14:creationId xmlns:p14="http://schemas.microsoft.com/office/powerpoint/2010/main" val="9794066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7717"/>
          </a:xfrm>
        </p:spPr>
        <p:txBody>
          <a:bodyPr>
            <a:normAutofit/>
          </a:bodyPr>
          <a:lstStyle/>
          <a:p>
            <a:r>
              <a:rPr lang="en-US" dirty="0"/>
              <a:t>What is Verification?</a:t>
            </a:r>
          </a:p>
        </p:txBody>
      </p:sp>
      <p:sp>
        <p:nvSpPr>
          <p:cNvPr id="3" name="Content Placeholder 2"/>
          <p:cNvSpPr>
            <a:spLocks noGrp="1"/>
          </p:cNvSpPr>
          <p:nvPr>
            <p:ph idx="1"/>
          </p:nvPr>
        </p:nvSpPr>
        <p:spPr>
          <a:xfrm>
            <a:off x="838200" y="1235242"/>
            <a:ext cx="10515600" cy="5454316"/>
          </a:xfrm>
        </p:spPr>
        <p:txBody>
          <a:bodyPr>
            <a:normAutofit fontScale="92500" lnSpcReduction="10000"/>
          </a:bodyPr>
          <a:lstStyle/>
          <a:p>
            <a:r>
              <a:rPr lang="en-US" b="1" i="1" dirty="0" smtClean="0"/>
              <a:t>Definition</a:t>
            </a:r>
            <a:r>
              <a:rPr lang="en-US" i="1" dirty="0"/>
              <a:t> : The process of evaluating software to determine whether the products of a given development phase satisfy the conditions imposed at the start of that phase.</a:t>
            </a:r>
            <a:endParaRPr lang="en-US" dirty="0"/>
          </a:p>
          <a:p>
            <a:r>
              <a:rPr lang="en-US" dirty="0"/>
              <a:t>Verification is a static practice of verifying documents, design, code and program. It includes all the activities associated with producing high quality software: inspection, design analysis and specification analysis. It is a relatively objective process.</a:t>
            </a:r>
          </a:p>
          <a:p>
            <a:r>
              <a:rPr lang="en-US" dirty="0"/>
              <a:t>Verification will help to determine whether the software is of high quality, but it will not ensure that the system is useful. Verification is concerned with whether the system is well-engineered and error-free.</a:t>
            </a:r>
          </a:p>
          <a:p>
            <a:r>
              <a:rPr lang="en-US" b="1" i="1" dirty="0"/>
              <a:t>Methods of Verification : </a:t>
            </a:r>
            <a:r>
              <a:rPr lang="en-US" b="1" i="1" u="sng" dirty="0">
                <a:hlinkClick r:id="rId2"/>
              </a:rPr>
              <a:t>Static Testing</a:t>
            </a:r>
            <a:endParaRPr lang="en-US" dirty="0"/>
          </a:p>
          <a:p>
            <a:r>
              <a:rPr lang="en-US" i="1" dirty="0"/>
              <a:t>Walkthrough</a:t>
            </a:r>
            <a:endParaRPr lang="en-US" dirty="0"/>
          </a:p>
          <a:p>
            <a:r>
              <a:rPr lang="en-US" i="1" dirty="0"/>
              <a:t>Inspection</a:t>
            </a:r>
            <a:endParaRPr lang="en-US" dirty="0"/>
          </a:p>
          <a:p>
            <a:r>
              <a:rPr lang="en-US" i="1" dirty="0"/>
              <a:t>Review</a:t>
            </a:r>
            <a:endParaRPr lang="en-US" dirty="0"/>
          </a:p>
          <a:p>
            <a:endParaRPr lang="en-US" dirty="0"/>
          </a:p>
        </p:txBody>
      </p:sp>
    </p:spTree>
    <p:extLst>
      <p:ext uri="{BB962C8B-B14F-4D97-AF65-F5344CB8AC3E}">
        <p14:creationId xmlns:p14="http://schemas.microsoft.com/office/powerpoint/2010/main" val="24779797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096"/>
          </a:xfrm>
        </p:spPr>
        <p:txBody>
          <a:bodyPr>
            <a:normAutofit fontScale="90000"/>
          </a:bodyPr>
          <a:lstStyle/>
          <a:p>
            <a:r>
              <a:rPr lang="en-US" dirty="0"/>
              <a:t>What is Validation?</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b="1" i="1" dirty="0"/>
              <a:t>Definition</a:t>
            </a:r>
            <a:r>
              <a:rPr lang="en-US" i="1" dirty="0"/>
              <a:t>: The process of evaluating software during or at the end of the development process to determine whether it satisfies specified requirements.</a:t>
            </a:r>
            <a:endParaRPr lang="en-US" dirty="0"/>
          </a:p>
          <a:p>
            <a:r>
              <a:rPr lang="en-US" dirty="0"/>
              <a:t>Validation is the process of evaluating the final product to check whether the software meets the customer expectations and requirements. It is a dynamic mechanism of validating and testing the actual product.</a:t>
            </a:r>
          </a:p>
          <a:p>
            <a:r>
              <a:rPr lang="en-US" b="1" i="1" dirty="0"/>
              <a:t>Methods of Validation : </a:t>
            </a:r>
            <a:r>
              <a:rPr lang="en-US" b="1" i="1" u="sng" dirty="0">
                <a:hlinkClick r:id="rId2"/>
              </a:rPr>
              <a:t>Dynamic Testing</a:t>
            </a:r>
            <a:endParaRPr lang="en-US" dirty="0"/>
          </a:p>
          <a:p>
            <a:r>
              <a:rPr lang="en-US" i="1" dirty="0"/>
              <a:t>Testing</a:t>
            </a:r>
            <a:endParaRPr lang="en-US" dirty="0"/>
          </a:p>
          <a:p>
            <a:r>
              <a:rPr lang="en-US" i="1" dirty="0"/>
              <a:t>End Users</a:t>
            </a:r>
            <a:endParaRPr lang="en-US" dirty="0"/>
          </a:p>
          <a:p>
            <a:endParaRPr lang="en-US" dirty="0"/>
          </a:p>
        </p:txBody>
      </p:sp>
    </p:spTree>
    <p:extLst>
      <p:ext uri="{BB962C8B-B14F-4D97-AF65-F5344CB8AC3E}">
        <p14:creationId xmlns:p14="http://schemas.microsoft.com/office/powerpoint/2010/main" val="27635987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795192255"/>
              </p:ext>
            </p:extLst>
          </p:nvPr>
        </p:nvGraphicFramePr>
        <p:xfrm>
          <a:off x="593558" y="513347"/>
          <a:ext cx="11141242" cy="5966857"/>
        </p:xfrm>
        <a:graphic>
          <a:graphicData uri="http://schemas.openxmlformats.org/drawingml/2006/table">
            <a:tbl>
              <a:tblPr/>
              <a:tblGrid>
                <a:gridCol w="5508822"/>
                <a:gridCol w="5632420"/>
              </a:tblGrid>
              <a:tr h="186624">
                <a:tc>
                  <a:txBody>
                    <a:bodyPr/>
                    <a:lstStyle/>
                    <a:p>
                      <a:r>
                        <a:rPr lang="en-US" sz="1800" i="1" dirty="0">
                          <a:effectLst/>
                        </a:rPr>
                        <a:t> </a:t>
                      </a:r>
                      <a:r>
                        <a:rPr lang="en-US" sz="1800" b="1" i="1" dirty="0">
                          <a:effectLst/>
                        </a:rPr>
                        <a:t>Verification</a:t>
                      </a:r>
                      <a:endParaRPr lang="en-US" sz="1800" dirty="0">
                        <a:effectLst/>
                      </a:endParaRPr>
                    </a:p>
                  </a:txBody>
                  <a:tcPr marL="15585" marR="31170" marT="15585" marB="15585" anchor="ctr">
                    <a:lnL>
                      <a:noFill/>
                    </a:lnL>
                    <a:lnR>
                      <a:noFill/>
                    </a:lnR>
                    <a:lnT>
                      <a:noFill/>
                    </a:lnT>
                    <a:lnB>
                      <a:noFill/>
                    </a:lnB>
                  </a:tcPr>
                </a:tc>
                <a:tc>
                  <a:txBody>
                    <a:bodyPr/>
                    <a:lstStyle/>
                    <a:p>
                      <a:r>
                        <a:rPr lang="en-US" sz="1800" i="1">
                          <a:effectLst/>
                        </a:rPr>
                        <a:t>             </a:t>
                      </a:r>
                      <a:r>
                        <a:rPr lang="en-US" sz="1800" b="1" i="1">
                          <a:effectLst/>
                        </a:rPr>
                        <a:t>Validation</a:t>
                      </a:r>
                      <a:endParaRPr lang="en-US" sz="1800">
                        <a:effectLst/>
                      </a:endParaRPr>
                    </a:p>
                  </a:txBody>
                  <a:tcPr marL="15585" marR="31170" marT="15585" marB="15585" anchor="ctr">
                    <a:lnL>
                      <a:noFill/>
                    </a:lnL>
                    <a:lnR>
                      <a:noFill/>
                    </a:lnR>
                    <a:lnT>
                      <a:noFill/>
                    </a:lnT>
                    <a:lnB>
                      <a:noFill/>
                    </a:lnB>
                  </a:tcPr>
                </a:tc>
              </a:tr>
              <a:tr h="624784">
                <a:tc>
                  <a:txBody>
                    <a:bodyPr/>
                    <a:lstStyle/>
                    <a:p>
                      <a:r>
                        <a:rPr lang="en-US" sz="1800" i="1" dirty="0">
                          <a:effectLst/>
                        </a:rPr>
                        <a:t>1. </a:t>
                      </a:r>
                      <a:r>
                        <a:rPr lang="en-US" sz="1800" b="1" dirty="0">
                          <a:effectLst/>
                        </a:rPr>
                        <a:t>Verification</a:t>
                      </a:r>
                      <a:r>
                        <a:rPr lang="en-US" sz="1800" dirty="0">
                          <a:effectLst/>
                        </a:rPr>
                        <a:t> is a static practice of verifying documents, design, code and program.</a:t>
                      </a:r>
                    </a:p>
                  </a:txBody>
                  <a:tcPr marL="15585" marR="31170" marT="15585" marB="15585" anchor="ctr">
                    <a:lnL>
                      <a:noFill/>
                    </a:lnL>
                    <a:lnR>
                      <a:noFill/>
                    </a:lnR>
                    <a:lnT>
                      <a:noFill/>
                    </a:lnT>
                    <a:lnB>
                      <a:noFill/>
                    </a:lnB>
                  </a:tcPr>
                </a:tc>
                <a:tc>
                  <a:txBody>
                    <a:bodyPr/>
                    <a:lstStyle/>
                    <a:p>
                      <a:r>
                        <a:rPr lang="en-US" sz="1800" dirty="0">
                          <a:effectLst/>
                        </a:rPr>
                        <a:t>1. </a:t>
                      </a:r>
                      <a:r>
                        <a:rPr lang="en-US" sz="1800" b="1" dirty="0">
                          <a:effectLst/>
                        </a:rPr>
                        <a:t>Validation</a:t>
                      </a:r>
                      <a:r>
                        <a:rPr lang="en-US" sz="1800" dirty="0">
                          <a:effectLst/>
                        </a:rPr>
                        <a:t> is a dynamic mechanism of validating and testing the actual product.</a:t>
                      </a:r>
                    </a:p>
                  </a:txBody>
                  <a:tcPr marL="15585" marR="31170" marT="15585" marB="15585" anchor="ctr">
                    <a:lnL>
                      <a:noFill/>
                    </a:lnL>
                    <a:lnR>
                      <a:noFill/>
                    </a:lnR>
                    <a:lnT>
                      <a:noFill/>
                    </a:lnT>
                    <a:lnB>
                      <a:noFill/>
                    </a:lnB>
                  </a:tcPr>
                </a:tc>
              </a:tr>
              <a:tr h="332676">
                <a:tc>
                  <a:txBody>
                    <a:bodyPr/>
                    <a:lstStyle/>
                    <a:p>
                      <a:r>
                        <a:rPr lang="en-US" sz="1800" i="1">
                          <a:effectLst/>
                        </a:rPr>
                        <a:t>2. </a:t>
                      </a:r>
                      <a:r>
                        <a:rPr lang="en-US" sz="1800">
                          <a:effectLst/>
                        </a:rPr>
                        <a:t>It does not involve executing the code.</a:t>
                      </a:r>
                    </a:p>
                  </a:txBody>
                  <a:tcPr marL="15585" marR="31170" marT="15585" marB="15585" anchor="ctr">
                    <a:lnL>
                      <a:noFill/>
                    </a:lnL>
                    <a:lnR>
                      <a:noFill/>
                    </a:lnR>
                    <a:lnT>
                      <a:noFill/>
                    </a:lnT>
                    <a:lnB>
                      <a:noFill/>
                    </a:lnB>
                  </a:tcPr>
                </a:tc>
                <a:tc>
                  <a:txBody>
                    <a:bodyPr/>
                    <a:lstStyle/>
                    <a:p>
                      <a:r>
                        <a:rPr lang="en-US" sz="1800">
                          <a:effectLst/>
                        </a:rPr>
                        <a:t>2. It always involves executing the code.</a:t>
                      </a:r>
                    </a:p>
                  </a:txBody>
                  <a:tcPr marL="15585" marR="31170" marT="15585" marB="15585" anchor="ctr">
                    <a:lnL>
                      <a:noFill/>
                    </a:lnL>
                    <a:lnR>
                      <a:noFill/>
                    </a:lnR>
                    <a:lnT>
                      <a:noFill/>
                    </a:lnT>
                    <a:lnB>
                      <a:noFill/>
                    </a:lnB>
                  </a:tcPr>
                </a:tc>
              </a:tr>
              <a:tr h="478730">
                <a:tc>
                  <a:txBody>
                    <a:bodyPr/>
                    <a:lstStyle/>
                    <a:p>
                      <a:r>
                        <a:rPr lang="en-US" sz="1800" i="1">
                          <a:effectLst/>
                        </a:rPr>
                        <a:t>3. </a:t>
                      </a:r>
                      <a:r>
                        <a:rPr lang="en-US" sz="1800">
                          <a:effectLst/>
                        </a:rPr>
                        <a:t>It is human based checking of documents and files.</a:t>
                      </a:r>
                    </a:p>
                  </a:txBody>
                  <a:tcPr marL="15585" marR="31170" marT="15585" marB="15585" anchor="ctr">
                    <a:lnL>
                      <a:noFill/>
                    </a:lnL>
                    <a:lnR>
                      <a:noFill/>
                    </a:lnR>
                    <a:lnT>
                      <a:noFill/>
                    </a:lnT>
                    <a:lnB>
                      <a:noFill/>
                    </a:lnB>
                  </a:tcPr>
                </a:tc>
                <a:tc>
                  <a:txBody>
                    <a:bodyPr/>
                    <a:lstStyle/>
                    <a:p>
                      <a:r>
                        <a:rPr lang="en-US" sz="1800" i="1">
                          <a:effectLst/>
                        </a:rPr>
                        <a:t>3. </a:t>
                      </a:r>
                      <a:r>
                        <a:rPr lang="en-US" sz="1800">
                          <a:effectLst/>
                        </a:rPr>
                        <a:t>It is computer based execution of program.</a:t>
                      </a:r>
                    </a:p>
                  </a:txBody>
                  <a:tcPr marL="15585" marR="31170" marT="15585" marB="15585" anchor="ctr">
                    <a:lnL>
                      <a:noFill/>
                    </a:lnL>
                    <a:lnR>
                      <a:noFill/>
                    </a:lnR>
                    <a:lnT>
                      <a:noFill/>
                    </a:lnT>
                    <a:lnB>
                      <a:noFill/>
                    </a:lnB>
                  </a:tcPr>
                </a:tc>
              </a:tr>
              <a:tr h="770836">
                <a:tc>
                  <a:txBody>
                    <a:bodyPr/>
                    <a:lstStyle/>
                    <a:p>
                      <a:r>
                        <a:rPr lang="en-US" sz="1800" i="1" dirty="0">
                          <a:effectLst/>
                        </a:rPr>
                        <a:t>4. </a:t>
                      </a:r>
                      <a:r>
                        <a:rPr lang="en-US" sz="1800" b="1" dirty="0">
                          <a:effectLst/>
                        </a:rPr>
                        <a:t>Verification</a:t>
                      </a:r>
                      <a:r>
                        <a:rPr lang="en-US" sz="1800" dirty="0">
                          <a:effectLst/>
                        </a:rPr>
                        <a:t> uses methods like inspections, reviews, walkthroughs, and Desk-checking etc.</a:t>
                      </a:r>
                    </a:p>
                  </a:txBody>
                  <a:tcPr marL="15585" marR="31170" marT="15585" marB="15585" anchor="ctr">
                    <a:lnL>
                      <a:noFill/>
                    </a:lnL>
                    <a:lnR>
                      <a:noFill/>
                    </a:lnR>
                    <a:lnT>
                      <a:noFill/>
                    </a:lnT>
                    <a:lnB>
                      <a:noFill/>
                    </a:lnB>
                  </a:tcPr>
                </a:tc>
                <a:tc>
                  <a:txBody>
                    <a:bodyPr/>
                    <a:lstStyle/>
                    <a:p>
                      <a:r>
                        <a:rPr lang="en-US" sz="1800" i="1" dirty="0">
                          <a:effectLst/>
                        </a:rPr>
                        <a:t>4. </a:t>
                      </a:r>
                      <a:r>
                        <a:rPr lang="en-US" sz="1800" b="1" dirty="0">
                          <a:effectLst/>
                        </a:rPr>
                        <a:t>Validation</a:t>
                      </a:r>
                      <a:r>
                        <a:rPr lang="en-US" sz="1800" dirty="0">
                          <a:effectLst/>
                        </a:rPr>
                        <a:t> uses methods like black box (functional)  testing, gray box testing, and white box (structural) testing etc.</a:t>
                      </a:r>
                    </a:p>
                  </a:txBody>
                  <a:tcPr marL="15585" marR="31170" marT="15585" marB="15585" anchor="ctr">
                    <a:lnL>
                      <a:noFill/>
                    </a:lnL>
                    <a:lnR>
                      <a:noFill/>
                    </a:lnR>
                    <a:lnT>
                      <a:noFill/>
                    </a:lnT>
                    <a:lnB>
                      <a:noFill/>
                    </a:lnB>
                  </a:tcPr>
                </a:tc>
              </a:tr>
              <a:tr h="770836">
                <a:tc>
                  <a:txBody>
                    <a:bodyPr/>
                    <a:lstStyle/>
                    <a:p>
                      <a:r>
                        <a:rPr lang="en-US" sz="1800">
                          <a:effectLst/>
                        </a:rPr>
                        <a:t>5. </a:t>
                      </a:r>
                      <a:r>
                        <a:rPr lang="en-US" sz="1800" b="1">
                          <a:effectLst/>
                        </a:rPr>
                        <a:t>Verification </a:t>
                      </a:r>
                      <a:r>
                        <a:rPr lang="en-US" sz="1800">
                          <a:effectLst/>
                        </a:rPr>
                        <a:t>is to check whether the software conforms to specifications.</a:t>
                      </a:r>
                    </a:p>
                  </a:txBody>
                  <a:tcPr marL="15585" marR="31170" marT="15585" marB="15585" anchor="ctr">
                    <a:lnL>
                      <a:noFill/>
                    </a:lnL>
                    <a:lnR>
                      <a:noFill/>
                    </a:lnR>
                    <a:lnT>
                      <a:noFill/>
                    </a:lnT>
                    <a:lnB>
                      <a:noFill/>
                    </a:lnB>
                  </a:tcPr>
                </a:tc>
                <a:tc>
                  <a:txBody>
                    <a:bodyPr/>
                    <a:lstStyle/>
                    <a:p>
                      <a:r>
                        <a:rPr lang="en-US" sz="1800">
                          <a:effectLst/>
                        </a:rPr>
                        <a:t>5. </a:t>
                      </a:r>
                      <a:r>
                        <a:rPr lang="en-US" sz="1800" b="1">
                          <a:effectLst/>
                        </a:rPr>
                        <a:t>Validation</a:t>
                      </a:r>
                      <a:r>
                        <a:rPr lang="en-US" sz="1800">
                          <a:effectLst/>
                        </a:rPr>
                        <a:t> is to check whether software meets the customer expectations and requirements.</a:t>
                      </a:r>
                    </a:p>
                  </a:txBody>
                  <a:tcPr marL="15585" marR="31170" marT="15585" marB="15585" anchor="ctr">
                    <a:lnL>
                      <a:noFill/>
                    </a:lnL>
                    <a:lnR>
                      <a:noFill/>
                    </a:lnR>
                    <a:lnT>
                      <a:noFill/>
                    </a:lnT>
                    <a:lnB>
                      <a:noFill/>
                    </a:lnB>
                  </a:tcPr>
                </a:tc>
              </a:tr>
              <a:tr h="478730">
                <a:tc>
                  <a:txBody>
                    <a:bodyPr/>
                    <a:lstStyle/>
                    <a:p>
                      <a:r>
                        <a:rPr lang="en-US" sz="1800" i="1">
                          <a:effectLst/>
                        </a:rPr>
                        <a:t>6. </a:t>
                      </a:r>
                      <a:r>
                        <a:rPr lang="en-US" sz="1800">
                          <a:effectLst/>
                        </a:rPr>
                        <a:t>It can catch errors that validation cannot catch. It is low level exercise.</a:t>
                      </a:r>
                    </a:p>
                  </a:txBody>
                  <a:tcPr marL="15585" marR="31170" marT="15585" marB="15585" anchor="ctr">
                    <a:lnL>
                      <a:noFill/>
                    </a:lnL>
                    <a:lnR>
                      <a:noFill/>
                    </a:lnR>
                    <a:lnT>
                      <a:noFill/>
                    </a:lnT>
                    <a:lnB>
                      <a:noFill/>
                    </a:lnB>
                  </a:tcPr>
                </a:tc>
                <a:tc>
                  <a:txBody>
                    <a:bodyPr/>
                    <a:lstStyle/>
                    <a:p>
                      <a:r>
                        <a:rPr lang="en-US" sz="1800" i="1" dirty="0">
                          <a:effectLst/>
                        </a:rPr>
                        <a:t>6. It can catch errors that verification cannot catch. It is High Level Exercise.</a:t>
                      </a:r>
                      <a:endParaRPr lang="en-US" sz="1800" dirty="0">
                        <a:effectLst/>
                      </a:endParaRPr>
                    </a:p>
                  </a:txBody>
                  <a:tcPr marL="15585" marR="31170" marT="15585" marB="15585" anchor="ctr">
                    <a:lnL>
                      <a:noFill/>
                    </a:lnL>
                    <a:lnR>
                      <a:noFill/>
                    </a:lnR>
                    <a:lnT>
                      <a:noFill/>
                    </a:lnT>
                    <a:lnB>
                      <a:noFill/>
                    </a:lnB>
                  </a:tcPr>
                </a:tc>
              </a:tr>
              <a:tr h="916889">
                <a:tc>
                  <a:txBody>
                    <a:bodyPr/>
                    <a:lstStyle/>
                    <a:p>
                      <a:r>
                        <a:rPr lang="en-US" sz="1800" dirty="0">
                          <a:effectLst/>
                        </a:rPr>
                        <a:t>7. Target is requirements specification, application and software architecture, high level, complete design, and database design etc.</a:t>
                      </a:r>
                    </a:p>
                  </a:txBody>
                  <a:tcPr marL="15585" marR="31170" marT="15585" marB="15585" anchor="ctr">
                    <a:lnL>
                      <a:noFill/>
                    </a:lnL>
                    <a:lnR>
                      <a:noFill/>
                    </a:lnR>
                    <a:lnT>
                      <a:noFill/>
                    </a:lnT>
                    <a:lnB>
                      <a:noFill/>
                    </a:lnB>
                  </a:tcPr>
                </a:tc>
                <a:tc>
                  <a:txBody>
                    <a:bodyPr/>
                    <a:lstStyle/>
                    <a:p>
                      <a:r>
                        <a:rPr lang="en-US" sz="1800" i="1">
                          <a:effectLst/>
                        </a:rPr>
                        <a:t>7. </a:t>
                      </a:r>
                      <a:r>
                        <a:rPr lang="en-US" sz="1800">
                          <a:effectLst/>
                        </a:rPr>
                        <a:t>Target is actual product-a unit, a module, a bent of integrated modules, and effective final product.</a:t>
                      </a:r>
                    </a:p>
                  </a:txBody>
                  <a:tcPr marL="15585" marR="31170" marT="15585" marB="15585" anchor="ctr">
                    <a:lnL>
                      <a:noFill/>
                    </a:lnL>
                    <a:lnR>
                      <a:noFill/>
                    </a:lnR>
                    <a:lnT>
                      <a:noFill/>
                    </a:lnT>
                    <a:lnB>
                      <a:noFill/>
                    </a:lnB>
                  </a:tcPr>
                </a:tc>
              </a:tr>
              <a:tr h="770836">
                <a:tc>
                  <a:txBody>
                    <a:bodyPr/>
                    <a:lstStyle/>
                    <a:p>
                      <a:r>
                        <a:rPr lang="en-US" sz="1800" dirty="0">
                          <a:effectLst/>
                        </a:rPr>
                        <a:t>8. </a:t>
                      </a:r>
                      <a:r>
                        <a:rPr lang="en-US" sz="1800" b="1" dirty="0">
                          <a:effectLst/>
                        </a:rPr>
                        <a:t>Verification</a:t>
                      </a:r>
                      <a:r>
                        <a:rPr lang="en-US" sz="1800" dirty="0">
                          <a:effectLst/>
                        </a:rPr>
                        <a:t> is done by QA team to ensure that the software is as per the specifications in the SRS document.</a:t>
                      </a:r>
                    </a:p>
                  </a:txBody>
                  <a:tcPr marL="15585" marR="31170" marT="15585" marB="15585" anchor="ctr">
                    <a:lnL>
                      <a:noFill/>
                    </a:lnL>
                    <a:lnR>
                      <a:noFill/>
                    </a:lnR>
                    <a:lnT>
                      <a:noFill/>
                    </a:lnT>
                    <a:lnB>
                      <a:noFill/>
                    </a:lnB>
                  </a:tcPr>
                </a:tc>
                <a:tc>
                  <a:txBody>
                    <a:bodyPr/>
                    <a:lstStyle/>
                    <a:p>
                      <a:r>
                        <a:rPr lang="en-US" sz="1800" i="1" dirty="0">
                          <a:effectLst/>
                        </a:rPr>
                        <a:t>8. </a:t>
                      </a:r>
                      <a:r>
                        <a:rPr lang="en-US" sz="1800" b="1" i="1" dirty="0">
                          <a:effectLst/>
                        </a:rPr>
                        <a:t>Validation</a:t>
                      </a:r>
                      <a:r>
                        <a:rPr lang="en-US" sz="1800" i="1" dirty="0">
                          <a:effectLst/>
                        </a:rPr>
                        <a:t> is carried out with the involvement of testing team.</a:t>
                      </a:r>
                      <a:endParaRPr lang="en-US" sz="1800" dirty="0">
                        <a:effectLst/>
                      </a:endParaRPr>
                    </a:p>
                  </a:txBody>
                  <a:tcPr marL="15585" marR="31170" marT="15585" marB="15585" anchor="ctr">
                    <a:lnL>
                      <a:noFill/>
                    </a:lnL>
                    <a:lnR>
                      <a:noFill/>
                    </a:lnR>
                    <a:lnT>
                      <a:noFill/>
                    </a:lnT>
                    <a:lnB>
                      <a:noFill/>
                    </a:lnB>
                  </a:tcPr>
                </a:tc>
              </a:tr>
              <a:tr h="332676">
                <a:tc>
                  <a:txBody>
                    <a:bodyPr/>
                    <a:lstStyle/>
                    <a:p>
                      <a:r>
                        <a:rPr lang="en-US" sz="1800">
                          <a:effectLst/>
                        </a:rPr>
                        <a:t>9. It generally comes first-done before validation.</a:t>
                      </a:r>
                    </a:p>
                  </a:txBody>
                  <a:tcPr marL="15585" marR="31170" marT="15585" marB="15585" anchor="ctr">
                    <a:lnL>
                      <a:noFill/>
                    </a:lnL>
                    <a:lnR>
                      <a:noFill/>
                    </a:lnR>
                    <a:lnT>
                      <a:noFill/>
                    </a:lnT>
                    <a:lnB>
                      <a:noFill/>
                    </a:lnB>
                  </a:tcPr>
                </a:tc>
                <a:tc>
                  <a:txBody>
                    <a:bodyPr/>
                    <a:lstStyle/>
                    <a:p>
                      <a:r>
                        <a:rPr lang="en-US" sz="1800" i="1" dirty="0">
                          <a:effectLst/>
                        </a:rPr>
                        <a:t>9. </a:t>
                      </a:r>
                      <a:r>
                        <a:rPr lang="en-US" sz="1800" dirty="0">
                          <a:effectLst/>
                        </a:rPr>
                        <a:t>It generally follows after </a:t>
                      </a:r>
                      <a:r>
                        <a:rPr lang="en-US" sz="1800" b="1" dirty="0">
                          <a:effectLst/>
                        </a:rPr>
                        <a:t>verification</a:t>
                      </a:r>
                      <a:r>
                        <a:rPr lang="en-US" sz="1800" dirty="0">
                          <a:effectLst/>
                        </a:rPr>
                        <a:t>.</a:t>
                      </a:r>
                    </a:p>
                  </a:txBody>
                  <a:tcPr marL="15585" marR="31170" marT="15585" marB="15585" anchor="ctr">
                    <a:lnL>
                      <a:noFill/>
                    </a:lnL>
                    <a:lnR>
                      <a:noFill/>
                    </a:lnR>
                    <a:lnT>
                      <a:noFill/>
                    </a:lnT>
                    <a:lnB>
                      <a:noFill/>
                    </a:lnB>
                  </a:tcPr>
                </a:tc>
              </a:tr>
            </a:tbl>
          </a:graphicData>
        </a:graphic>
      </p:graphicFrame>
      <p:cxnSp>
        <p:nvCxnSpPr>
          <p:cNvPr id="6" name="Straight Connector 5"/>
          <p:cNvCxnSpPr/>
          <p:nvPr/>
        </p:nvCxnSpPr>
        <p:spPr>
          <a:xfrm>
            <a:off x="6006992" y="400276"/>
            <a:ext cx="20182" cy="6295492"/>
          </a:xfrm>
          <a:prstGeom prst="line">
            <a:avLst/>
          </a:prstGeom>
          <a:ln w="603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49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V-model"/>
          <p:cNvPicPr/>
          <p:nvPr/>
        </p:nvPicPr>
        <p:blipFill>
          <a:blip r:embed="rId2">
            <a:extLst>
              <a:ext uri="{28A0092B-C50C-407E-A947-70E740481C1C}">
                <a14:useLocalDpi xmlns:a14="http://schemas.microsoft.com/office/drawing/2010/main" val="0"/>
              </a:ext>
            </a:extLst>
          </a:blip>
          <a:srcRect/>
          <a:stretch>
            <a:fillRect/>
          </a:stretch>
        </p:blipFill>
        <p:spPr bwMode="auto">
          <a:xfrm>
            <a:off x="777921" y="368490"/>
            <a:ext cx="10481482" cy="6277970"/>
          </a:xfrm>
          <a:prstGeom prst="rect">
            <a:avLst/>
          </a:prstGeom>
          <a:noFill/>
          <a:ln>
            <a:noFill/>
          </a:ln>
        </p:spPr>
      </p:pic>
    </p:spTree>
    <p:extLst>
      <p:ext uri="{BB962C8B-B14F-4D97-AF65-F5344CB8AC3E}">
        <p14:creationId xmlns:p14="http://schemas.microsoft.com/office/powerpoint/2010/main" val="32757321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8028" y="95535"/>
            <a:ext cx="11399990" cy="7171194"/>
          </a:xfrm>
          <a:prstGeom prst="rect">
            <a:avLst/>
          </a:prstGeom>
        </p:spPr>
        <p:txBody>
          <a:bodyPr wrap="square">
            <a:spAutoFit/>
          </a:bodyPr>
          <a:lstStyle/>
          <a:p>
            <a:pPr algn="just"/>
            <a:r>
              <a:rPr lang="en-IN" sz="2400" dirty="0">
                <a:solidFill>
                  <a:srgbClr val="000000"/>
                </a:solidFill>
                <a:latin typeface="Verdana" panose="020B0604030504040204" pitchFamily="34" charset="0"/>
                <a:ea typeface="Times New Roman" panose="02020603050405020304" pitchFamily="18" charset="0"/>
              </a:rPr>
              <a:t>So V-Model contains Verification phases on one side of the Validation phases on the other side. Verification and Validation process is joined by coding phase in V-shape. Thus it is known as V-Model</a:t>
            </a:r>
            <a:r>
              <a:rPr lang="en-IN" sz="2400" dirty="0" smtClean="0">
                <a:solidFill>
                  <a:srgbClr val="000000"/>
                </a:solidFill>
                <a:latin typeface="Verdana" panose="020B0604030504040204" pitchFamily="34" charset="0"/>
                <a:ea typeface="Times New Roman" panose="02020603050405020304" pitchFamily="18" charset="0"/>
              </a:rPr>
              <a:t>.</a:t>
            </a:r>
          </a:p>
          <a:p>
            <a:pPr algn="just"/>
            <a:r>
              <a:rPr lang="en-IN" sz="2800" b="1" dirty="0"/>
              <a:t>There are the various phases of Verification Phase of V-model:</a:t>
            </a:r>
            <a:endParaRPr lang="en-IN" sz="2800" dirty="0"/>
          </a:p>
          <a:p>
            <a:pPr lvl="0" algn="just"/>
            <a:r>
              <a:rPr lang="en-IN" sz="2800" b="1" dirty="0" smtClean="0"/>
              <a:t>1. Business </a:t>
            </a:r>
            <a:r>
              <a:rPr lang="en-IN" sz="2800" b="1" dirty="0"/>
              <a:t>requirement analysis:</a:t>
            </a:r>
            <a:r>
              <a:rPr lang="en-IN" sz="2800" dirty="0"/>
              <a:t> This is the first step where product requirements understood from the customer's side. This phase contains detailed communication to understand customer's expectations and exact requirements.</a:t>
            </a:r>
          </a:p>
          <a:p>
            <a:pPr lvl="0" algn="just"/>
            <a:r>
              <a:rPr lang="en-IN" sz="2800" b="1" dirty="0" smtClean="0"/>
              <a:t>2. System </a:t>
            </a:r>
            <a:r>
              <a:rPr lang="en-IN" sz="2800" b="1" dirty="0"/>
              <a:t>Design:</a:t>
            </a:r>
            <a:r>
              <a:rPr lang="en-IN" sz="2800" dirty="0"/>
              <a:t> In this stage system engineers </a:t>
            </a:r>
            <a:r>
              <a:rPr lang="en-IN" sz="2800" dirty="0" err="1"/>
              <a:t>analyze</a:t>
            </a:r>
            <a:r>
              <a:rPr lang="en-IN" sz="2800" dirty="0"/>
              <a:t> and interpret the business of the proposed system by studying the user requirements document.</a:t>
            </a:r>
          </a:p>
          <a:p>
            <a:pPr lvl="0" algn="just"/>
            <a:r>
              <a:rPr lang="en-IN" sz="2800" b="1" dirty="0" smtClean="0"/>
              <a:t>3. Architecture </a:t>
            </a:r>
            <a:r>
              <a:rPr lang="en-IN" sz="2800" b="1" dirty="0"/>
              <a:t>Design:</a:t>
            </a:r>
            <a:r>
              <a:rPr lang="en-IN" sz="2800" dirty="0"/>
              <a:t> The baseline in selecting the architecture is that it should understand all which typically consists of the list of modules, brief functionality of each module, their interface relationships, dependencies, database tables, architecture diagrams, technology detail, etc. The integration testing model is carried out in a particular phase</a:t>
            </a:r>
            <a:r>
              <a:rPr lang="en-IN" sz="2400" dirty="0"/>
              <a:t>.</a:t>
            </a:r>
          </a:p>
          <a:p>
            <a:pPr algn="just"/>
            <a:endParaRPr lang="en-IN" sz="2400" dirty="0">
              <a:solidFill>
                <a:srgbClr val="000000"/>
              </a:solidFill>
              <a:latin typeface="Verdana" panose="020B0604030504040204" pitchFamily="34" charset="0"/>
              <a:ea typeface="Times New Roman" panose="02020603050405020304" pitchFamily="18" charset="0"/>
            </a:endParaRPr>
          </a:p>
        </p:txBody>
      </p:sp>
    </p:spTree>
    <p:extLst>
      <p:ext uri="{BB962C8B-B14F-4D97-AF65-F5344CB8AC3E}">
        <p14:creationId xmlns:p14="http://schemas.microsoft.com/office/powerpoint/2010/main" val="8681111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308" y="416346"/>
            <a:ext cx="11682483" cy="3680495"/>
          </a:xfrm>
          <a:prstGeom prst="rect">
            <a:avLst/>
          </a:prstGeom>
        </p:spPr>
        <p:txBody>
          <a:bodyPr wrap="square">
            <a:spAutoFit/>
          </a:bodyPr>
          <a:lstStyle/>
          <a:p>
            <a:pPr lvl="0" algn="just">
              <a:spcBef>
                <a:spcPts val="300"/>
              </a:spcBef>
              <a:spcAft>
                <a:spcPts val="800"/>
              </a:spcAft>
              <a:tabLst>
                <a:tab pos="457200" algn="l"/>
              </a:tabLst>
            </a:pPr>
            <a:r>
              <a:rPr lang="en-IN" sz="2800" b="1" dirty="0"/>
              <a:t>4. Module Design:</a:t>
            </a:r>
            <a:r>
              <a:rPr lang="en-IN" sz="2800" dirty="0"/>
              <a:t> In the module design phase, the system breaks down into small modules. The detailed design of the modules is specified, which is known as Low-Level Design</a:t>
            </a:r>
          </a:p>
          <a:p>
            <a:pPr lvl="0" algn="just">
              <a:spcBef>
                <a:spcPts val="300"/>
              </a:spcBef>
              <a:spcAft>
                <a:spcPts val="800"/>
              </a:spcAft>
              <a:tabLst>
                <a:tab pos="457200" algn="l"/>
              </a:tabLst>
            </a:pPr>
            <a:r>
              <a:rPr lang="en-IN" sz="2800" b="1" dirty="0"/>
              <a:t>5. Coding Phase:</a:t>
            </a:r>
            <a:r>
              <a:rPr lang="en-IN" sz="2800" dirty="0"/>
              <a:t> After designing, the coding phase is started. Based on the requirements, a suitable programming language is decided. There are some guidelines and standards for coding. Before checking in the repository, the final build is optimized for better performance, and the code goes through many code reviews to check the performance.</a:t>
            </a:r>
          </a:p>
        </p:txBody>
      </p:sp>
    </p:spTree>
    <p:extLst>
      <p:ext uri="{BB962C8B-B14F-4D97-AF65-F5344CB8AC3E}">
        <p14:creationId xmlns:p14="http://schemas.microsoft.com/office/powerpoint/2010/main" val="2639991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728" y="294344"/>
            <a:ext cx="11532358" cy="6786473"/>
          </a:xfrm>
          <a:prstGeom prst="rect">
            <a:avLst/>
          </a:prstGeom>
        </p:spPr>
        <p:txBody>
          <a:bodyPr wrap="square">
            <a:spAutoFit/>
          </a:bodyPr>
          <a:lstStyle/>
          <a:p>
            <a:pPr algn="just">
              <a:spcAft>
                <a:spcPts val="800"/>
              </a:spcAft>
            </a:pPr>
            <a:r>
              <a:rPr lang="en-IN" sz="2800" b="1" dirty="0"/>
              <a:t>There are the various phases of Validation Phase of V-model:</a:t>
            </a:r>
          </a:p>
          <a:p>
            <a:pPr marL="342900" lvl="0" indent="-342900" algn="just">
              <a:spcBef>
                <a:spcPts val="300"/>
              </a:spcBef>
              <a:spcAft>
                <a:spcPts val="800"/>
              </a:spcAft>
              <a:buFont typeface="+mj-lt"/>
              <a:buAutoNum type="arabicPeriod"/>
              <a:tabLst>
                <a:tab pos="457200" algn="l"/>
              </a:tabLst>
            </a:pPr>
            <a:r>
              <a:rPr lang="en-IN" sz="2800" b="1" dirty="0"/>
              <a:t>Unit Testing:</a:t>
            </a:r>
            <a:r>
              <a:rPr lang="en-IN" sz="2800" dirty="0"/>
              <a:t> In the V-Model, Unit Test Plans (UTPs) are developed during the module design phase. These UTPs are executed to eliminate errors at code level or unit level. A unit is the smallest entity which can independently exist, e.g., a program module. Unit testing verifies that the smallest entity can function correctly when isolated from the rest of the codes/ units.</a:t>
            </a:r>
          </a:p>
          <a:p>
            <a:pPr marL="342900" lvl="0" indent="-342900" algn="just">
              <a:spcBef>
                <a:spcPts val="300"/>
              </a:spcBef>
              <a:spcAft>
                <a:spcPts val="800"/>
              </a:spcAft>
              <a:buFont typeface="+mj-lt"/>
              <a:buAutoNum type="arabicPeriod"/>
              <a:tabLst>
                <a:tab pos="457200" algn="l"/>
              </a:tabLst>
            </a:pPr>
            <a:r>
              <a:rPr lang="en-IN" sz="2800" b="1" dirty="0"/>
              <a:t>Integration Testing:</a:t>
            </a:r>
            <a:r>
              <a:rPr lang="en-IN" sz="2800" dirty="0"/>
              <a:t> Integration Test Plans are developed during the Architectural Design Phase. These tests verify that groups created and tested independently can coexist and communicate among themselves.</a:t>
            </a:r>
          </a:p>
          <a:p>
            <a:pPr lvl="0"/>
            <a:r>
              <a:rPr lang="en-IN" sz="2800" b="1" dirty="0"/>
              <a:t>3. System Testing:</a:t>
            </a:r>
            <a:r>
              <a:rPr lang="en-IN" sz="2800" dirty="0"/>
              <a:t> System Tests Plans are developed during System Design Phase. Unlike Unit and Integration Test Plans, System Tests Plans are composed by the </a:t>
            </a:r>
            <a:r>
              <a:rPr lang="en-IN" sz="2800" dirty="0" err="1"/>
              <a:t>client?s</a:t>
            </a:r>
            <a:r>
              <a:rPr lang="en-IN" sz="2800" dirty="0"/>
              <a:t> business team. System Test ensures that expectations from an application developer are met.</a:t>
            </a:r>
          </a:p>
          <a:p>
            <a:endParaRPr lang="en-IN" dirty="0"/>
          </a:p>
        </p:txBody>
      </p:sp>
    </p:spTree>
    <p:extLst>
      <p:ext uri="{BB962C8B-B14F-4D97-AF65-F5344CB8AC3E}">
        <p14:creationId xmlns:p14="http://schemas.microsoft.com/office/powerpoint/2010/main" val="3405813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7673" y="352526"/>
            <a:ext cx="11177516" cy="2677656"/>
          </a:xfrm>
          <a:prstGeom prst="rect">
            <a:avLst/>
          </a:prstGeom>
        </p:spPr>
        <p:txBody>
          <a:bodyPr wrap="square">
            <a:spAutoFit/>
          </a:bodyPr>
          <a:lstStyle/>
          <a:p>
            <a:pPr lvl="0" algn="just"/>
            <a:r>
              <a:rPr lang="en-IN" sz="2800" b="1" dirty="0"/>
              <a:t>4.  Acceptance Testing:</a:t>
            </a:r>
            <a:r>
              <a:rPr lang="en-IN" sz="2800" dirty="0"/>
              <a:t> Acceptance testing is related to the business requirement analysis part. It includes testing the software product in user atmosphere. Acceptance tests reveal the compatibility problems with the different systems, which is available within the user atmosphere. It conjointly discovers the non-functional problems like load and performance defects within the real user atmosphere.</a:t>
            </a:r>
          </a:p>
        </p:txBody>
      </p:sp>
    </p:spTree>
    <p:extLst>
      <p:ext uri="{BB962C8B-B14F-4D97-AF65-F5344CB8AC3E}">
        <p14:creationId xmlns:p14="http://schemas.microsoft.com/office/powerpoint/2010/main" val="340002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9434" y="305518"/>
            <a:ext cx="11477766" cy="3970318"/>
          </a:xfrm>
          <a:prstGeom prst="rect">
            <a:avLst/>
          </a:prstGeom>
        </p:spPr>
        <p:txBody>
          <a:bodyPr wrap="square">
            <a:spAutoFit/>
          </a:bodyPr>
          <a:lstStyle/>
          <a:p>
            <a:pPr fontAlgn="base"/>
            <a:r>
              <a:rPr lang="en-US" sz="2800" b="1" u="sng" dirty="0" err="1" smtClean="0">
                <a:latin typeface="Nunito"/>
                <a:hlinkClick r:id="rId2"/>
              </a:rPr>
              <a:t>StaticTesting</a:t>
            </a:r>
            <a:r>
              <a:rPr lang="en-US" sz="2800" b="1" dirty="0">
                <a:latin typeface="Nunito"/>
              </a:rPr>
              <a:t>:</a:t>
            </a:r>
            <a:br>
              <a:rPr lang="en-US" sz="2800" b="1" dirty="0">
                <a:latin typeface="Nunito"/>
              </a:rPr>
            </a:br>
            <a:r>
              <a:rPr lang="en-US" sz="3200" dirty="0"/>
              <a:t>Static Testing is a type of a </a:t>
            </a:r>
            <a:r>
              <a:rPr lang="en-US" sz="3200" dirty="0">
                <a:hlinkClick r:id="rId3"/>
              </a:rPr>
              <a:t>Software Testing</a:t>
            </a:r>
            <a:r>
              <a:rPr lang="en-US" sz="3200" dirty="0"/>
              <a:t> method which is performed to check the defects in software without actually executing the code of the software application.</a:t>
            </a:r>
          </a:p>
          <a:p>
            <a:pPr algn="just" fontAlgn="base"/>
            <a:r>
              <a:rPr lang="en-US" sz="3200" dirty="0"/>
              <a:t>Static testing is performed in early stage of development to avoid errors as it is easier to find sources of failures and it can be fixed easily. The errors that can’t not be found using Dynamic Testing, can be easily found by Static Testing.</a:t>
            </a:r>
          </a:p>
        </p:txBody>
      </p:sp>
    </p:spTree>
    <p:extLst>
      <p:ext uri="{BB962C8B-B14F-4D97-AF65-F5344CB8AC3E}">
        <p14:creationId xmlns:p14="http://schemas.microsoft.com/office/powerpoint/2010/main" val="4217230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194" y="165500"/>
            <a:ext cx="11668835" cy="2248693"/>
          </a:xfrm>
          <a:prstGeom prst="rect">
            <a:avLst/>
          </a:prstGeom>
        </p:spPr>
        <p:txBody>
          <a:bodyPr wrap="square">
            <a:spAutoFit/>
          </a:bodyPr>
          <a:lstStyle/>
          <a:p>
            <a:pPr>
              <a:lnSpc>
                <a:spcPct val="150000"/>
              </a:lnSpc>
            </a:pPr>
            <a:r>
              <a:rPr lang="en-US" sz="2400" b="1" u="sng" dirty="0">
                <a:latin typeface="Nunito"/>
                <a:hlinkClick r:id="rId2"/>
              </a:rPr>
              <a:t>Dynamic Testing:</a:t>
            </a:r>
            <a:r>
              <a:rPr lang="en-US" sz="2400" b="1" dirty="0"/>
              <a:t/>
            </a:r>
            <a:br>
              <a:rPr lang="en-US" sz="2400" b="1" dirty="0"/>
            </a:br>
            <a:r>
              <a:rPr lang="en-US" sz="2400" dirty="0">
                <a:latin typeface="Nunito"/>
              </a:rPr>
              <a:t>Dynamic Testing is a type of Software Testing which is performed to analyze the dynamic behavior of the code. It includes the testing of the software for the input values and output values that are analyzed</a:t>
            </a:r>
            <a:r>
              <a:rPr lang="en-US" sz="2400" b="1" dirty="0">
                <a:latin typeface="Nunito"/>
              </a:rPr>
              <a:t>.</a:t>
            </a:r>
            <a:endParaRPr lang="en-IN" sz="2400" b="1" dirty="0"/>
          </a:p>
        </p:txBody>
      </p:sp>
    </p:spTree>
    <p:extLst>
      <p:ext uri="{BB962C8B-B14F-4D97-AF65-F5344CB8AC3E}">
        <p14:creationId xmlns:p14="http://schemas.microsoft.com/office/powerpoint/2010/main" val="945676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0" y="2828836"/>
            <a:ext cx="6096000" cy="1200329"/>
          </a:xfrm>
          <a:prstGeom prst="rect">
            <a:avLst/>
          </a:prstGeom>
        </p:spPr>
        <p:txBody>
          <a:bodyPr>
            <a:spAutoFit/>
          </a:bodyPr>
          <a:lstStyle/>
          <a:p>
            <a:pPr fontAlgn="base"/>
            <a:r>
              <a:rPr lang="en-US" b="1" dirty="0">
                <a:solidFill>
                  <a:srgbClr val="FFFFFF"/>
                </a:solidFill>
                <a:latin typeface="Nunito"/>
              </a:rPr>
              <a:t>Difference between Static Testing and Dynamic Testing:</a:t>
            </a:r>
            <a:endParaRPr lang="en-US" dirty="0">
              <a:solidFill>
                <a:srgbClr val="FFFFFF"/>
              </a:solidFill>
              <a:latin typeface="Nunito"/>
            </a:endParaRPr>
          </a:p>
          <a:p>
            <a:r>
              <a:rPr lang="en-US" dirty="0"/>
              <a:t/>
            </a:r>
            <a:br>
              <a:rPr lang="en-US" dirty="0"/>
            </a:b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139950306"/>
              </p:ext>
            </p:extLst>
          </p:nvPr>
        </p:nvGraphicFramePr>
        <p:xfrm>
          <a:off x="409433" y="575235"/>
          <a:ext cx="11150220" cy="5811918"/>
        </p:xfrm>
        <a:graphic>
          <a:graphicData uri="http://schemas.openxmlformats.org/drawingml/2006/table">
            <a:tbl>
              <a:tblPr/>
              <a:tblGrid>
                <a:gridCol w="5575110"/>
                <a:gridCol w="5575110"/>
              </a:tblGrid>
              <a:tr h="633736">
                <a:tc>
                  <a:txBody>
                    <a:bodyPr/>
                    <a:lstStyle/>
                    <a:p>
                      <a:pPr algn="ctr" fontAlgn="base"/>
                      <a:r>
                        <a:rPr lang="en-IN" sz="2800" b="1" dirty="0">
                          <a:effectLst/>
                        </a:rPr>
                        <a:t>Static Testing</a:t>
                      </a:r>
                    </a:p>
                  </a:txBody>
                  <a:tcPr marL="76200" marR="76200" marT="76200" marB="7620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4CB96B"/>
                    </a:solidFill>
                  </a:tcPr>
                </a:tc>
                <a:tc>
                  <a:txBody>
                    <a:bodyPr/>
                    <a:lstStyle/>
                    <a:p>
                      <a:pPr algn="ctr" fontAlgn="base"/>
                      <a:r>
                        <a:rPr lang="en-IN" sz="2800" b="1" dirty="0">
                          <a:effectLst/>
                        </a:rPr>
                        <a:t>Dynamic Testing</a:t>
                      </a:r>
                    </a:p>
                  </a:txBody>
                  <a:tcPr marL="76200" marR="76200" marT="76200" marB="7620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4CB96B"/>
                    </a:solidFill>
                  </a:tcPr>
                </a:tc>
              </a:tr>
              <a:tr h="1106943">
                <a:tc>
                  <a:txBody>
                    <a:bodyPr/>
                    <a:lstStyle/>
                    <a:p>
                      <a:pPr algn="l" fontAlgn="ctr"/>
                      <a:r>
                        <a:rPr lang="en-US" sz="2800" b="0" dirty="0">
                          <a:solidFill>
                            <a:schemeClr val="bg1"/>
                          </a:solidFill>
                          <a:effectLst/>
                        </a:rPr>
                        <a:t>It is performed in the early stage of the software development.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800" b="0" dirty="0">
                          <a:solidFill>
                            <a:schemeClr val="bg1"/>
                          </a:solidFill>
                          <a:effectLst/>
                        </a:rPr>
                        <a:t>It is performed at the later stage of the software development.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873908">
                <a:tc>
                  <a:txBody>
                    <a:bodyPr/>
                    <a:lstStyle/>
                    <a:p>
                      <a:pPr algn="l" fontAlgn="ctr"/>
                      <a:r>
                        <a:rPr lang="en-US" sz="2800" b="0" dirty="0">
                          <a:solidFill>
                            <a:schemeClr val="bg1"/>
                          </a:solidFill>
                          <a:effectLst/>
                        </a:rPr>
                        <a:t>In static testing whole code is not executed.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800" b="0">
                          <a:solidFill>
                            <a:schemeClr val="bg1"/>
                          </a:solidFill>
                          <a:effectLst/>
                        </a:rPr>
                        <a:t>In dynamic testing whole code is executed.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1122241">
                <a:tc>
                  <a:txBody>
                    <a:bodyPr/>
                    <a:lstStyle/>
                    <a:p>
                      <a:pPr algn="l" fontAlgn="ctr"/>
                      <a:r>
                        <a:rPr lang="en-US" sz="2800" b="0" dirty="0">
                          <a:solidFill>
                            <a:schemeClr val="bg1"/>
                          </a:solidFill>
                          <a:effectLst/>
                        </a:rPr>
                        <a:t>Static testing prevents the defects.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800" b="0" dirty="0">
                          <a:solidFill>
                            <a:schemeClr val="bg1"/>
                          </a:solidFill>
                          <a:effectLst/>
                        </a:rPr>
                        <a:t>Dynamic testing finds and fixes the defects.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1122241">
                <a:tc>
                  <a:txBody>
                    <a:bodyPr/>
                    <a:lstStyle/>
                    <a:p>
                      <a:pPr algn="l" fontAlgn="ctr"/>
                      <a:r>
                        <a:rPr lang="en-US" sz="2800" b="0">
                          <a:solidFill>
                            <a:schemeClr val="bg1"/>
                          </a:solidFill>
                          <a:effectLst/>
                        </a:rPr>
                        <a:t>Static testing is performed before code deployment.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800" b="0" dirty="0">
                          <a:solidFill>
                            <a:schemeClr val="bg1"/>
                          </a:solidFill>
                          <a:effectLst/>
                        </a:rPr>
                        <a:t>Dynamic testing is performed after code deployment.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661919">
                <a:tc>
                  <a:txBody>
                    <a:bodyPr/>
                    <a:lstStyle/>
                    <a:p>
                      <a:pPr algn="l" fontAlgn="ctr"/>
                      <a:r>
                        <a:rPr lang="en-US" sz="2800" b="0">
                          <a:solidFill>
                            <a:schemeClr val="bg1"/>
                          </a:solidFill>
                          <a:effectLst/>
                        </a:rPr>
                        <a:t>Static testing is less costly.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800" b="0" dirty="0">
                          <a:solidFill>
                            <a:schemeClr val="bg1"/>
                          </a:solidFill>
                          <a:effectLst/>
                        </a:rPr>
                        <a:t>Dynamic testing is highly costly.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bl>
          </a:graphicData>
        </a:graphic>
      </p:graphicFrame>
    </p:spTree>
    <p:extLst>
      <p:ext uri="{BB962C8B-B14F-4D97-AF65-F5344CB8AC3E}">
        <p14:creationId xmlns:p14="http://schemas.microsoft.com/office/powerpoint/2010/main" val="84966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5368650"/>
              </p:ext>
            </p:extLst>
          </p:nvPr>
        </p:nvGraphicFramePr>
        <p:xfrm>
          <a:off x="436728" y="161438"/>
          <a:ext cx="11204812" cy="6669465"/>
        </p:xfrm>
        <a:graphic>
          <a:graphicData uri="http://schemas.openxmlformats.org/drawingml/2006/table">
            <a:tbl>
              <a:tblPr/>
              <a:tblGrid>
                <a:gridCol w="5602406"/>
                <a:gridCol w="5602406"/>
              </a:tblGrid>
              <a:tr h="946845">
                <a:tc>
                  <a:txBody>
                    <a:bodyPr/>
                    <a:lstStyle/>
                    <a:p>
                      <a:pPr algn="l" fontAlgn="ctr"/>
                      <a:r>
                        <a:rPr lang="en-US" sz="2400" b="0" dirty="0">
                          <a:solidFill>
                            <a:schemeClr val="bg1"/>
                          </a:solidFill>
                          <a:effectLst/>
                        </a:rPr>
                        <a:t>Static Testing involves checklist for testing process.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400" b="0">
                          <a:solidFill>
                            <a:schemeClr val="bg1"/>
                          </a:solidFill>
                          <a:effectLst/>
                        </a:rPr>
                        <a:t>Dynamic Testing involves test cases for testing process.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946845">
                <a:tc>
                  <a:txBody>
                    <a:bodyPr/>
                    <a:lstStyle/>
                    <a:p>
                      <a:pPr algn="l" fontAlgn="ctr"/>
                      <a:r>
                        <a:rPr lang="en-US" sz="2400" b="0" dirty="0">
                          <a:solidFill>
                            <a:schemeClr val="bg1"/>
                          </a:solidFill>
                          <a:effectLst/>
                        </a:rPr>
                        <a:t>It includes walkthroughs, code review, inspection etc.</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400" b="0">
                          <a:solidFill>
                            <a:schemeClr val="bg1"/>
                          </a:solidFill>
                          <a:effectLst/>
                        </a:rPr>
                        <a:t>It involves functional and nonfunctional testing.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946845">
                <a:tc>
                  <a:txBody>
                    <a:bodyPr/>
                    <a:lstStyle/>
                    <a:p>
                      <a:pPr algn="l" fontAlgn="ctr"/>
                      <a:r>
                        <a:rPr lang="en-US" sz="2400" b="0" dirty="0">
                          <a:solidFill>
                            <a:schemeClr val="bg1"/>
                          </a:solidFill>
                          <a:effectLst/>
                        </a:rPr>
                        <a:t>It generally takes shorter time.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400" b="0">
                          <a:solidFill>
                            <a:schemeClr val="bg1"/>
                          </a:solidFill>
                          <a:effectLst/>
                        </a:rPr>
                        <a:t>It usually takes longer time as it involves running several test cases.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1047412">
                <a:tc>
                  <a:txBody>
                    <a:bodyPr/>
                    <a:lstStyle/>
                    <a:p>
                      <a:pPr algn="l" fontAlgn="ctr"/>
                      <a:r>
                        <a:rPr lang="en-US" sz="2400" b="0" dirty="0">
                          <a:solidFill>
                            <a:schemeClr val="bg1"/>
                          </a:solidFill>
                          <a:effectLst/>
                        </a:rPr>
                        <a:t>It can discover variety of bugs.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400" b="0" dirty="0">
                          <a:solidFill>
                            <a:schemeClr val="bg1"/>
                          </a:solidFill>
                          <a:effectLst/>
                        </a:rPr>
                        <a:t>It expose the bugs that are </a:t>
                      </a:r>
                      <a:r>
                        <a:rPr lang="en-US" sz="2400" b="0" dirty="0" err="1">
                          <a:solidFill>
                            <a:schemeClr val="bg1"/>
                          </a:solidFill>
                          <a:effectLst/>
                        </a:rPr>
                        <a:t>explorable</a:t>
                      </a:r>
                      <a:r>
                        <a:rPr lang="en-US" sz="2400" b="0" dirty="0">
                          <a:solidFill>
                            <a:schemeClr val="bg1"/>
                          </a:solidFill>
                          <a:effectLst/>
                        </a:rPr>
                        <a:t> through execution hence discover only limited type of bugs.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1211982">
                <a:tc>
                  <a:txBody>
                    <a:bodyPr/>
                    <a:lstStyle/>
                    <a:p>
                      <a:pPr algn="l" fontAlgn="ctr"/>
                      <a:r>
                        <a:rPr lang="en-US" sz="2400" b="0">
                          <a:solidFill>
                            <a:schemeClr val="bg1"/>
                          </a:solidFill>
                          <a:effectLst/>
                        </a:rPr>
                        <a:t>Static Testing may complete 100% statement coverage in comparably less time.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US" sz="2400" b="0" dirty="0">
                          <a:solidFill>
                            <a:schemeClr val="bg1"/>
                          </a:solidFill>
                          <a:effectLst/>
                        </a:rPr>
                        <a:t>While dynamic testing only achieves less than 50% statement coverage.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r h="946845">
                <a:tc>
                  <a:txBody>
                    <a:bodyPr/>
                    <a:lstStyle/>
                    <a:p>
                      <a:pPr algn="l" fontAlgn="ctr"/>
                      <a:r>
                        <a:rPr lang="en-IN" sz="2400" b="1">
                          <a:solidFill>
                            <a:schemeClr val="bg1"/>
                          </a:solidFill>
                          <a:effectLst/>
                        </a:rPr>
                        <a:t>Example:</a:t>
                      </a:r>
                      <a:r>
                        <a:rPr lang="en-IN" sz="2400" b="0">
                          <a:solidFill>
                            <a:schemeClr val="bg1"/>
                          </a:solidFill>
                          <a:effectLst/>
                        </a:rPr>
                        <a:t>Verification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c>
                  <a:txBody>
                    <a:bodyPr/>
                    <a:lstStyle/>
                    <a:p>
                      <a:pPr algn="l" fontAlgn="ctr"/>
                      <a:r>
                        <a:rPr lang="en-IN" sz="2400" b="1" dirty="0" err="1">
                          <a:solidFill>
                            <a:schemeClr val="bg1"/>
                          </a:solidFill>
                          <a:effectLst/>
                        </a:rPr>
                        <a:t>Example:</a:t>
                      </a:r>
                      <a:r>
                        <a:rPr lang="en-IN" sz="2400" b="0" dirty="0" err="1">
                          <a:solidFill>
                            <a:schemeClr val="bg1"/>
                          </a:solidFill>
                          <a:effectLst/>
                        </a:rPr>
                        <a:t>Validation</a:t>
                      </a:r>
                      <a:endParaRPr lang="en-IN" sz="2400" b="0" dirty="0">
                        <a:solidFill>
                          <a:schemeClr val="bg1"/>
                        </a:solidFill>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tr>
            </a:tbl>
          </a:graphicData>
        </a:graphic>
      </p:graphicFrame>
    </p:spTree>
    <p:extLst>
      <p:ext uri="{BB962C8B-B14F-4D97-AF65-F5344CB8AC3E}">
        <p14:creationId xmlns:p14="http://schemas.microsoft.com/office/powerpoint/2010/main" val="2718075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2004</TotalTime>
  <Words>1468</Words>
  <Application>Microsoft Office PowerPoint</Application>
  <PresentationFormat>Custom</PresentationFormat>
  <Paragraphs>213</Paragraphs>
  <Slides>31</Slides>
  <Notes>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Software Testing</vt:lpstr>
      <vt:lpstr>SOFTWARE QUALITY Fundamentals </vt:lpstr>
      <vt:lpstr>What is Software Testing</vt:lpstr>
      <vt:lpstr>Definition Of Software Testing</vt:lpstr>
      <vt:lpstr>Bug, Fault &amp; Failure</vt:lpstr>
      <vt:lpstr>PowerPoint Presentation</vt:lpstr>
      <vt:lpstr>PowerPoint Presentation</vt:lpstr>
      <vt:lpstr>PowerPoint Presentation</vt:lpstr>
      <vt:lpstr>Objective of testing</vt:lpstr>
      <vt:lpstr>PowerPoint Presentation</vt:lpstr>
      <vt:lpstr>Who is a SoftwareTester??..</vt:lpstr>
      <vt:lpstr>Skills Required for Tester</vt:lpstr>
      <vt:lpstr>Software Quality Concept </vt:lpstr>
      <vt:lpstr>Software Quality Concept </vt:lpstr>
      <vt:lpstr>PowerPoint Presentation</vt:lpstr>
      <vt:lpstr>PowerPoint Presentation</vt:lpstr>
      <vt:lpstr>PowerPoint Presentation</vt:lpstr>
      <vt:lpstr>Cost Of Quality </vt:lpstr>
      <vt:lpstr>PowerPoint Presentation</vt:lpstr>
      <vt:lpstr>What is Verification?</vt:lpstr>
      <vt:lpstr>What is Validation?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cp:lastModifiedBy>
  <cp:revision>23</cp:revision>
  <cp:lastPrinted>2023-08-01T06:02:22Z</cp:lastPrinted>
  <dcterms:created xsi:type="dcterms:W3CDTF">2017-12-20T06:55:50Z</dcterms:created>
  <dcterms:modified xsi:type="dcterms:W3CDTF">2025-02-03T08:55:14Z</dcterms:modified>
</cp:coreProperties>
</file>